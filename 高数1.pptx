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7" r:id="rId9"/>
    <p:sldId id="262" r:id="rId10"/>
    <p:sldId id="264" r:id="rId11"/>
    <p:sldId id="275" r:id="rId12"/>
    <p:sldId id="272" r:id="rId13"/>
    <p:sldId id="265" r:id="rId14"/>
    <p:sldId id="266" r:id="rId15"/>
    <p:sldId id="276" r:id="rId16"/>
    <p:sldId id="267" r:id="rId17"/>
    <p:sldId id="274" r:id="rId18"/>
    <p:sldId id="273" r:id="rId19"/>
    <p:sldId id="279" r:id="rId20"/>
    <p:sldId id="282" r:id="rId21"/>
    <p:sldId id="269" r:id="rId22"/>
    <p:sldId id="280" r:id="rId23"/>
    <p:sldId id="268" r:id="rId24"/>
    <p:sldId id="270" r:id="rId25"/>
    <p:sldId id="271" r:id="rId26"/>
    <p:sldId id="284" r:id="rId27"/>
    <p:sldId id="285" r:id="rId28"/>
    <p:sldId id="286" r:id="rId29"/>
    <p:sldId id="287" r:id="rId30"/>
    <p:sldId id="283" r:id="rId31"/>
    <p:sldId id="288" r:id="rId32"/>
    <p:sldId id="289" r:id="rId33"/>
    <p:sldId id="290" r:id="rId34"/>
    <p:sldId id="291" r:id="rId35"/>
    <p:sldId id="292" r:id="rId36"/>
    <p:sldId id="281" r:id="rId37"/>
    <p:sldId id="293" r:id="rId38"/>
    <p:sldId id="294" r:id="rId39"/>
    <p:sldId id="295" r:id="rId40"/>
    <p:sldId id="296" r:id="rId41"/>
    <p:sldId id="309" r:id="rId42"/>
    <p:sldId id="297" r:id="rId43"/>
    <p:sldId id="298" r:id="rId44"/>
    <p:sldId id="299" r:id="rId45"/>
    <p:sldId id="300" r:id="rId46"/>
    <p:sldId id="301" r:id="rId47"/>
    <p:sldId id="316" r:id="rId48"/>
    <p:sldId id="303" r:id="rId49"/>
    <p:sldId id="304" r:id="rId50"/>
    <p:sldId id="305" r:id="rId51"/>
    <p:sldId id="313" r:id="rId52"/>
    <p:sldId id="306" r:id="rId53"/>
    <p:sldId id="307" r:id="rId54"/>
    <p:sldId id="310" r:id="rId55"/>
    <p:sldId id="308" r:id="rId56"/>
    <p:sldId id="311" r:id="rId57"/>
    <p:sldId id="302" r:id="rId58"/>
    <p:sldId id="324" r:id="rId59"/>
    <p:sldId id="312" r:id="rId60"/>
    <p:sldId id="314" r:id="rId61"/>
    <p:sldId id="325" r:id="rId62"/>
    <p:sldId id="315" r:id="rId63"/>
    <p:sldId id="317" r:id="rId64"/>
    <p:sldId id="318" r:id="rId65"/>
    <p:sldId id="321" r:id="rId66"/>
    <p:sldId id="319" r:id="rId67"/>
    <p:sldId id="320" r:id="rId68"/>
    <p:sldId id="322" r:id="rId69"/>
    <p:sldId id="323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85745" autoAdjust="0"/>
  </p:normalViewPr>
  <p:slideViewPr>
    <p:cSldViewPr snapToGrid="0">
      <p:cViewPr varScale="1">
        <p:scale>
          <a:sx n="86" d="100"/>
          <a:sy n="86" d="100"/>
        </p:scale>
        <p:origin x="1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C9722-AC24-4639-BFFB-F2F3D1945EF1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8B5DD9-3D1D-4C33-985A-8B3F1FBA6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00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强烈建议大家把题目都写完，不会的可以</a:t>
            </a:r>
            <a:r>
              <a:rPr lang="en-US" altLang="zh-CN" sz="1200" dirty="0"/>
              <a:t>ai/</a:t>
            </a:r>
            <a:r>
              <a:rPr lang="zh-CN" altLang="en-US" sz="1200" dirty="0"/>
              <a:t>问同学</a:t>
            </a:r>
            <a:r>
              <a:rPr lang="en-US" altLang="zh-CN" sz="1200" dirty="0"/>
              <a:t>/</a:t>
            </a:r>
            <a:r>
              <a:rPr lang="zh-CN" altLang="en-US" sz="1200" dirty="0"/>
              <a:t>作业帮（雾），并拿笔标注，我一样会讲。</a:t>
            </a:r>
            <a:endParaRPr lang="en-US" altLang="zh-CN" sz="1200" dirty="0"/>
          </a:p>
          <a:p>
            <a:r>
              <a:rPr lang="zh-CN" altLang="en-US" sz="1200" dirty="0"/>
              <a:t>完全没过程只有答案的扣了</a:t>
            </a:r>
            <a:r>
              <a:rPr lang="en-US" altLang="zh-CN" sz="1200" dirty="0"/>
              <a:t>0.5</a:t>
            </a:r>
          </a:p>
          <a:p>
            <a:endParaRPr lang="en-US" altLang="zh-CN" dirty="0"/>
          </a:p>
          <a:p>
            <a:r>
              <a:rPr lang="en-US" altLang="zh-CN" dirty="0"/>
              <a:t>PPT</a:t>
            </a:r>
            <a:r>
              <a:rPr lang="zh-CN" altLang="en-US" dirty="0"/>
              <a:t>有需要请联系我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420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先讲这页</a:t>
            </a:r>
            <a:r>
              <a:rPr lang="en-US" altLang="zh-CN" dirty="0"/>
              <a:t>ppt</a:t>
            </a:r>
            <a:r>
              <a:rPr lang="zh-CN" altLang="en-US" dirty="0"/>
              <a:t>再讲作业，不论证不妨</a:t>
            </a:r>
            <a:r>
              <a:rPr lang="en-US" altLang="zh-CN" dirty="0"/>
              <a:t>=</a:t>
            </a:r>
            <a:r>
              <a:rPr lang="zh-CN" altLang="en-US" dirty="0"/>
              <a:t>看考试难度决定你有分</a:t>
            </a:r>
            <a:r>
              <a:rPr lang="en-US" altLang="zh-CN" dirty="0"/>
              <a:t>or not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5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作用：去根号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09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984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重说一遍例题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400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X*sin(1/x)</a:t>
            </a:r>
            <a:r>
              <a:rPr lang="zh-CN" altLang="en-US" dirty="0"/>
              <a:t>算极限不能拆开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74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576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作业题的训练量很大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247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718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altLang="zh-CN" dirty="0"/>
              <a:t>y = </a:t>
            </a:r>
            <a:r>
              <a:rPr lang="es-ES" altLang="zh-CN" dirty="0" err="1"/>
              <a:t>arcsin</a:t>
            </a:r>
            <a:r>
              <a:rPr lang="es-ES" altLang="zh-CN" dirty="0"/>
              <a:t> x</a:t>
            </a:r>
          </a:p>
          <a:p>
            <a:r>
              <a:rPr lang="es-ES" altLang="zh-CN" dirty="0"/>
              <a:t>sin y = x</a:t>
            </a:r>
          </a:p>
          <a:p>
            <a:r>
              <a:rPr lang="es-ES" altLang="zh-CN" dirty="0"/>
              <a:t>cos </a:t>
            </a:r>
            <a:r>
              <a:rPr lang="es-ES" altLang="zh-CN" dirty="0" err="1"/>
              <a:t>y·y</a:t>
            </a:r>
            <a:r>
              <a:rPr lang="es-ES" altLang="zh-CN" dirty="0"/>
              <a:t>′ = 1</a:t>
            </a:r>
          </a:p>
          <a:p>
            <a:r>
              <a:rPr lang="es-ES" altLang="zh-CN" dirty="0"/>
              <a:t>y′ = 1/cos y = 1/√(1 − x²)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8B5DD9-3D1D-4C33-985A-8B3F1FBA6F6E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247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63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57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43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83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8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3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34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41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76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13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93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9F511-6921-4A76-A7B4-8B1ECF347B6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82BE8-1496-485C-A897-1F01F2B24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9364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hyperlink" Target="https://www.geogebra.org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&#26377;&#38480;&#39033;&#21024;&#38500;&#28436;&#31034;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hyperlink" Target="https://zhuanlan.zhihu.com/p/48859870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mailto:sunwei@shanghaitech.edu.cn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E4A46-C6D2-4887-BC83-364332359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878" y="-45493"/>
            <a:ext cx="9144000" cy="2387600"/>
          </a:xfrm>
        </p:spPr>
        <p:txBody>
          <a:bodyPr/>
          <a:lstStyle/>
          <a:p>
            <a:r>
              <a:rPr lang="zh-CN" altLang="en-US" dirty="0"/>
              <a:t>高数</a:t>
            </a:r>
            <a:r>
              <a:rPr lang="en-US" altLang="zh-CN" dirty="0"/>
              <a:t>Ⅰ</a:t>
            </a:r>
            <a:r>
              <a:rPr lang="zh-CN" altLang="en-US" dirty="0"/>
              <a:t>习题课</a:t>
            </a:r>
            <a:br>
              <a:rPr lang="en-US" altLang="zh-CN" dirty="0"/>
            </a:br>
            <a:r>
              <a:rPr lang="en-US" altLang="zh-CN" sz="4000" dirty="0"/>
              <a:t>Week1</a:t>
            </a:r>
            <a:endParaRPr lang="zh-CN" altLang="en-US" sz="4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F66904-7D65-4AB7-B824-E1BF2BC00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971" y="2932386"/>
            <a:ext cx="4350029" cy="35654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1F60BB-E1DF-48C5-9C94-8079A2E2D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775" y="2608083"/>
            <a:ext cx="1771855" cy="2472394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2BF7430A-062F-4037-ADBC-E18E48BBBC76}"/>
              </a:ext>
            </a:extLst>
          </p:cNvPr>
          <p:cNvSpPr/>
          <p:nvPr/>
        </p:nvSpPr>
        <p:spPr>
          <a:xfrm rot="10525117">
            <a:off x="5629308" y="3516817"/>
            <a:ext cx="2208425" cy="239647"/>
          </a:xfrm>
          <a:prstGeom prst="rightArrow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92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C9091-22C1-44A0-B8B8-3A6AFD72E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17" y="187779"/>
            <a:ext cx="10515600" cy="1325563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高数是谁，它难不难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6510D2-DDC7-44E9-A81A-AA03F562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745" y="161683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24</a:t>
            </a:r>
            <a:r>
              <a:rPr lang="zh-CN" altLang="en-US" dirty="0"/>
              <a:t>年上海高考数学</a:t>
            </a:r>
            <a:r>
              <a:rPr lang="en-US" altLang="zh-CN" dirty="0"/>
              <a:t>128</a:t>
            </a:r>
            <a:r>
              <a:rPr lang="zh-CN" altLang="en-US" dirty="0"/>
              <a:t>选手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7768BF-E85C-41BE-BED6-F68AD7D01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959" y="184175"/>
            <a:ext cx="2673420" cy="26536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97CE47-933F-4677-9D47-E4F4875EB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45" y="2347378"/>
            <a:ext cx="6676372" cy="2218313"/>
          </a:xfrm>
          <a:prstGeom prst="rect">
            <a:avLst/>
          </a:prstGeom>
        </p:spPr>
      </p:pic>
      <p:pic>
        <p:nvPicPr>
          <p:cNvPr id="10" name="图形 9" descr="问号 纯色填充">
            <a:extLst>
              <a:ext uri="{FF2B5EF4-FFF2-40B4-BE49-F238E27FC236}">
                <a16:creationId xmlns:a16="http://schemas.microsoft.com/office/drawing/2014/main" id="{C0E2AAD3-52A6-430E-9086-E061B5C927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8138" y="2942397"/>
            <a:ext cx="914400" cy="914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FA93AA7-B7E1-451C-814D-C51D8E7A56C9}"/>
              </a:ext>
            </a:extLst>
          </p:cNvPr>
          <p:cNvSpPr txBox="1"/>
          <p:nvPr/>
        </p:nvSpPr>
        <p:spPr>
          <a:xfrm>
            <a:off x="7373860" y="3216104"/>
            <a:ext cx="39019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理解公式，会做题，计算稳就行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F9E4613-340B-43E6-9F08-B73FB640E6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68" y="5098171"/>
            <a:ext cx="7342789" cy="146855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7D469E2-FC7A-456D-B440-56BEAB384A6B}"/>
              </a:ext>
            </a:extLst>
          </p:cNvPr>
          <p:cNvSpPr txBox="1"/>
          <p:nvPr/>
        </p:nvSpPr>
        <p:spPr>
          <a:xfrm>
            <a:off x="7570356" y="5523260"/>
            <a:ext cx="4914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对高中生来说刚刚好，对大学生来说太难了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52CABB6-28C2-4BFF-B736-05F04CB0D4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73860" y="189926"/>
            <a:ext cx="2653618" cy="265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1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0582F-A744-4FEB-89A4-66C9F35B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44" y="32312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#</a:t>
            </a:r>
            <a:r>
              <a:rPr lang="zh-CN" altLang="en-US" dirty="0"/>
              <a:t>我是谁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389B5A-18CF-496B-89CF-A35BF4B71926}"/>
              </a:ext>
            </a:extLst>
          </p:cNvPr>
          <p:cNvSpPr txBox="1"/>
          <p:nvPr/>
        </p:nvSpPr>
        <p:spPr>
          <a:xfrm>
            <a:off x="394144" y="1335366"/>
            <a:ext cx="7677802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杜润卓</a:t>
            </a:r>
            <a:endParaRPr lang="en-US" altLang="zh-CN" sz="2800" b="1" dirty="0"/>
          </a:p>
          <a:p>
            <a:endParaRPr lang="en-US" altLang="zh-CN" b="1" dirty="0"/>
          </a:p>
          <a:p>
            <a:r>
              <a:rPr lang="en-US" altLang="zh-CN" dirty="0"/>
              <a:t>-24</a:t>
            </a:r>
            <a:r>
              <a:rPr lang="zh-CN" altLang="en-US" dirty="0"/>
              <a:t>级</a:t>
            </a:r>
            <a:r>
              <a:rPr lang="en-US" altLang="zh-CN" dirty="0"/>
              <a:t> BME</a:t>
            </a:r>
            <a:r>
              <a:rPr lang="zh-CN" altLang="en-US" dirty="0"/>
              <a:t>（生物医学工程），</a:t>
            </a:r>
            <a:r>
              <a:rPr lang="zh-CN" altLang="en-US" b="1" dirty="0"/>
              <a:t>不是行政！！！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dirty="0"/>
              <a:t>-office hour</a:t>
            </a:r>
            <a:r>
              <a:rPr lang="zh-CN" altLang="en-US" dirty="0"/>
              <a:t>（？）</a:t>
            </a:r>
            <a:r>
              <a:rPr lang="zh-CN" altLang="en-US" b="1" dirty="0"/>
              <a:t>：</a:t>
            </a:r>
            <a:r>
              <a:rPr lang="zh-CN" altLang="en-US" dirty="0"/>
              <a:t>随时可以反馈问题，只要不是太阴间的时间（比如早上</a:t>
            </a:r>
            <a:r>
              <a:rPr lang="en-US" altLang="zh-CN" dirty="0"/>
              <a:t>10</a:t>
            </a:r>
            <a:r>
              <a:rPr lang="zh-CN" altLang="en-US" dirty="0"/>
              <a:t>点以前咳咳），没马上回复别着急，可能是学长自己也在上课</a:t>
            </a:r>
            <a:r>
              <a:rPr lang="en-US" altLang="zh-CN" dirty="0"/>
              <a:t>/</a:t>
            </a:r>
            <a:r>
              <a:rPr lang="zh-CN" altLang="en-US" dirty="0"/>
              <a:t>赶</a:t>
            </a:r>
            <a:r>
              <a:rPr lang="en-US" altLang="zh-CN" dirty="0" err="1"/>
              <a:t>ddl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经常“不小心”错过某些课    </a:t>
            </a:r>
            <a:r>
              <a:rPr lang="zh-CN" altLang="en-US" strike="sngStrike" dirty="0"/>
              <a:t>其实去了也不一定听</a:t>
            </a:r>
            <a:endParaRPr lang="en-US" altLang="zh-CN" strike="sngStrike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研究方向：</a:t>
            </a:r>
            <a:r>
              <a:rPr lang="en-US" altLang="zh-CN" strike="sngStrike" dirty="0"/>
              <a:t>medical image analysis </a:t>
            </a:r>
            <a:r>
              <a:rPr lang="zh-CN" altLang="en-US" dirty="0"/>
              <a:t>   如何边摸鱼边高效得监督</a:t>
            </a:r>
            <a:r>
              <a:rPr lang="en-US" altLang="zh-CN" dirty="0"/>
              <a:t>agent</a:t>
            </a:r>
            <a:r>
              <a:rPr lang="zh-CN" altLang="en-US" dirty="0"/>
              <a:t>干活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球迷，老吃家，综艺爱好者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en-US" altLang="zh-CN" sz="1800" dirty="0">
                <a:latin typeface="+mn-ea"/>
              </a:rPr>
              <a:t>GPA </a:t>
            </a:r>
            <a:r>
              <a:rPr lang="zh-CN" altLang="en-US" sz="1800" dirty="0">
                <a:latin typeface="+mn-ea"/>
              </a:rPr>
              <a:t>还可以</a:t>
            </a:r>
            <a:r>
              <a:rPr lang="en-US" altLang="zh-CN" sz="1800" dirty="0">
                <a:latin typeface="+mn-ea"/>
              </a:rPr>
              <a:t> (</a:t>
            </a:r>
            <a:r>
              <a:rPr lang="zh-CN" altLang="en-US" sz="1800" dirty="0">
                <a:latin typeface="+mn-ea"/>
              </a:rPr>
              <a:t>至少我觉得还可以</a:t>
            </a:r>
            <a:r>
              <a:rPr lang="en-US" altLang="zh-CN" sz="1800" dirty="0">
                <a:latin typeface="+mn-ea"/>
              </a:rPr>
              <a:t>)</a:t>
            </a:r>
            <a:endParaRPr lang="zh-CN" altLang="en-US" sz="1800" dirty="0">
              <a:latin typeface="+mn-ea"/>
              <a:cs typeface="+mj-cs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D9B56A-CF01-416E-AB06-957B14649FF9}"/>
              </a:ext>
            </a:extLst>
          </p:cNvPr>
          <p:cNvSpPr txBox="1"/>
          <p:nvPr/>
        </p:nvSpPr>
        <p:spPr>
          <a:xfrm>
            <a:off x="1442547" y="5838948"/>
            <a:ext cx="8734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请备注一下自己的姓名</a:t>
            </a:r>
            <a:r>
              <a:rPr lang="en-US" altLang="zh-CN" sz="3600" b="1" dirty="0"/>
              <a:t>-</a:t>
            </a:r>
            <a:r>
              <a:rPr lang="zh-CN" altLang="en-US" sz="3600" b="1" dirty="0"/>
              <a:t>专业，谢谢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7CCE44-872B-404B-B507-558518D4D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610" y="552786"/>
            <a:ext cx="3636892" cy="487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1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A78EE-7D88-4F72-9E00-9A2960C7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31" y="-1860"/>
            <a:ext cx="10515600" cy="1325563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一些可能会对大家有帮助的工具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8895E8-9BE7-4156-B2F2-27B0F17F5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131" y="12077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各家</a:t>
            </a:r>
            <a:r>
              <a:rPr lang="en-US" altLang="zh-CN" dirty="0"/>
              <a:t>AI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C2C817-7F8C-4AB5-95E4-1518A131E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30406"/>
            <a:ext cx="4217695" cy="35181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D5656A-04F1-4A90-BB20-641F6053B307}"/>
              </a:ext>
            </a:extLst>
          </p:cNvPr>
          <p:cNvSpPr txBox="1"/>
          <p:nvPr/>
        </p:nvSpPr>
        <p:spPr>
          <a:xfrm>
            <a:off x="4446295" y="1159285"/>
            <a:ext cx="7546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2. B</a:t>
            </a:r>
            <a:r>
              <a:rPr lang="zh-CN" altLang="en-US" sz="2400" dirty="0"/>
              <a:t>站搜索 </a:t>
            </a:r>
            <a:r>
              <a:rPr lang="en-US" altLang="zh-CN" sz="2400" dirty="0"/>
              <a:t>3B1B  </a:t>
            </a:r>
            <a:r>
              <a:rPr lang="zh-CN" altLang="en-US" sz="2400" dirty="0"/>
              <a:t>，提供图形化的几何直观理解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E2AD562-30E3-4C9D-8A00-C7FF04E3F0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659"/>
          <a:stretch/>
        </p:blipFill>
        <p:spPr>
          <a:xfrm>
            <a:off x="4765386" y="1830406"/>
            <a:ext cx="5800350" cy="200038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0369B34-26DA-4845-8334-288A440E9CD2}"/>
              </a:ext>
            </a:extLst>
          </p:cNvPr>
          <p:cNvSpPr txBox="1"/>
          <p:nvPr/>
        </p:nvSpPr>
        <p:spPr>
          <a:xfrm>
            <a:off x="4615826" y="4129055"/>
            <a:ext cx="64363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3. </a:t>
            </a:r>
            <a:r>
              <a:rPr lang="en-US" altLang="zh-CN" sz="2400" dirty="0" err="1"/>
              <a:t>Geogebra</a:t>
            </a:r>
            <a:r>
              <a:rPr lang="en-US" altLang="zh-CN" sz="2400" dirty="0"/>
              <a:t>   </a:t>
            </a:r>
          </a:p>
          <a:p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en-US" altLang="zh-CN" sz="2400" dirty="0">
                <a:hlinkClick r:id="rId4"/>
              </a:rPr>
              <a:t>https://www.geogebra.org/</a:t>
            </a:r>
            <a:endParaRPr lang="en-US" altLang="zh-CN" sz="2400" dirty="0"/>
          </a:p>
          <a:p>
            <a:r>
              <a:rPr lang="zh-CN" altLang="en-US" sz="2400" dirty="0"/>
              <a:t>函数可视化工具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323618-2EA3-4E75-B9F4-4C344165C5A7}"/>
              </a:ext>
            </a:extLst>
          </p:cNvPr>
          <p:cNvSpPr txBox="1"/>
          <p:nvPr/>
        </p:nvSpPr>
        <p:spPr>
          <a:xfrm>
            <a:off x="228600" y="5996981"/>
            <a:ext cx="9672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</a:t>
            </a:r>
            <a:r>
              <a:rPr lang="zh-CN" altLang="en-US" sz="2400" dirty="0"/>
              <a:t>复习资料获取</a:t>
            </a:r>
            <a:r>
              <a:rPr lang="en-US" altLang="zh-CN" sz="2400" dirty="0"/>
              <a:t>:</a:t>
            </a:r>
            <a:r>
              <a:rPr lang="zh-CN" altLang="en-US" sz="2400" dirty="0"/>
              <a:t>  </a:t>
            </a:r>
            <a:r>
              <a:rPr lang="en-US" altLang="zh-CN" sz="2400" dirty="0" err="1"/>
              <a:t>itechx</a:t>
            </a:r>
            <a:r>
              <a:rPr lang="en-US" altLang="zh-CN" sz="2400" dirty="0"/>
              <a:t>/coursebench.org/</a:t>
            </a:r>
            <a:r>
              <a:rPr lang="zh-CN" altLang="en-US" sz="2400" dirty="0"/>
              <a:t>选课群</a:t>
            </a:r>
            <a:r>
              <a:rPr lang="en-US" altLang="zh-CN" sz="2400" dirty="0"/>
              <a:t>/</a:t>
            </a:r>
            <a:r>
              <a:rPr lang="zh-CN" altLang="en-US" sz="2400" dirty="0"/>
              <a:t>习题课随机掉落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AC01036-8717-4F49-BA09-DDB0DDC14F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696" y="1830406"/>
            <a:ext cx="2807024" cy="469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3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52688-8FA9-4DDD-992F-F0CA9743B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习题课一定要来吗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843EBA-E123-4C01-A569-55386F938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325" y="1781020"/>
            <a:ext cx="11662317" cy="4351338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上课没听懂（没去上课），作业有问题，想复习，散步正好散到了教室</a:t>
            </a:r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总而言之，觉得有用</a:t>
            </a:r>
            <a:r>
              <a:rPr lang="en-US" altLang="zh-CN" dirty="0"/>
              <a:t>/</a:t>
            </a:r>
            <a:r>
              <a:rPr lang="zh-CN" altLang="en-US" dirty="0"/>
              <a:t>想给助教个面子，你就来！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有</a:t>
            </a:r>
            <a:r>
              <a:rPr lang="en-US" altLang="zh-CN" b="1" dirty="0">
                <a:solidFill>
                  <a:srgbClr val="FF0000"/>
                </a:solidFill>
              </a:rPr>
              <a:t>quiz</a:t>
            </a:r>
            <a:r>
              <a:rPr lang="zh-CN" altLang="en-US" b="1" dirty="0">
                <a:solidFill>
                  <a:srgbClr val="FF0000"/>
                </a:solidFill>
              </a:rPr>
              <a:t>的习题课请大家务必到场！（否则可能会有绩点消失术）</a:t>
            </a:r>
          </a:p>
        </p:txBody>
      </p:sp>
      <p:sp>
        <p:nvSpPr>
          <p:cNvPr id="4" name="乘号 3">
            <a:extLst>
              <a:ext uri="{FF2B5EF4-FFF2-40B4-BE49-F238E27FC236}">
                <a16:creationId xmlns:a16="http://schemas.microsoft.com/office/drawing/2014/main" id="{1E9378D0-FD7A-4F33-8006-7A8F82B88231}"/>
              </a:ext>
            </a:extLst>
          </p:cNvPr>
          <p:cNvSpPr/>
          <p:nvPr/>
        </p:nvSpPr>
        <p:spPr>
          <a:xfrm>
            <a:off x="5592528" y="192333"/>
            <a:ext cx="1408387" cy="167114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1B6A1F7-682C-4AF8-8ADC-697FC6F1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44" y="2340907"/>
            <a:ext cx="2229264" cy="21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20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854C6-05A1-4C87-9C13-9A66F4D4D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87" y="228490"/>
            <a:ext cx="10515600" cy="1325563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一些暂定的安排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F24AA-DC3D-4B9E-9CD3-CA17F8B77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587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讲作业（提前收集大家的问题</a:t>
            </a:r>
            <a:r>
              <a:rPr lang="en-US" altLang="zh-CN" dirty="0"/>
              <a:t>or</a:t>
            </a:r>
            <a:r>
              <a:rPr lang="zh-CN" altLang="en-US" dirty="0"/>
              <a:t>现场问）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回顾一下这周的上课内容</a:t>
            </a:r>
            <a:r>
              <a:rPr lang="en-US" altLang="zh-CN" dirty="0"/>
              <a:t>+</a:t>
            </a:r>
            <a:r>
              <a:rPr lang="zh-CN" altLang="en-US" dirty="0">
                <a:solidFill>
                  <a:srgbClr val="FF0000"/>
                </a:solidFill>
              </a:rPr>
              <a:t>解题套路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找一两道习题</a:t>
            </a:r>
            <a:r>
              <a:rPr lang="en-US" altLang="zh-CN" dirty="0"/>
              <a:t>or</a:t>
            </a:r>
            <a:r>
              <a:rPr lang="zh-CN" altLang="en-US" dirty="0"/>
              <a:t>往年真题给大家限时练练手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（稍微扩展一些对考试可能有帮助的技巧</a:t>
            </a:r>
            <a:r>
              <a:rPr lang="en-US" altLang="zh-CN" dirty="0"/>
              <a:t>/</a:t>
            </a:r>
            <a:r>
              <a:rPr lang="zh-CN" altLang="en-US" dirty="0"/>
              <a:t>有意思的东西）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大考试前可能会看大家需求加额外复习课</a:t>
            </a:r>
            <a:r>
              <a:rPr lang="en-US" altLang="zh-CN" dirty="0"/>
              <a:t>/</a:t>
            </a:r>
            <a:r>
              <a:rPr lang="zh-CN" altLang="en-US" dirty="0"/>
              <a:t>答疑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欢迎大家随时反馈，按需调整！</a:t>
            </a:r>
          </a:p>
        </p:txBody>
      </p:sp>
    </p:spTree>
    <p:extLst>
      <p:ext uri="{BB962C8B-B14F-4D97-AF65-F5344CB8AC3E}">
        <p14:creationId xmlns:p14="http://schemas.microsoft.com/office/powerpoint/2010/main" val="16830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34C23-FC8B-4F31-9E4A-7F286E1DE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755"/>
            <a:ext cx="10515600" cy="1325563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作业提交格式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F424CA-73D4-488E-9D8F-C5EAF3A19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702"/>
            <a:ext cx="11353800" cy="4351338"/>
          </a:xfrm>
        </p:spPr>
        <p:txBody>
          <a:bodyPr/>
          <a:lstStyle/>
          <a:p>
            <a:r>
              <a:rPr lang="zh-CN" altLang="en-US" dirty="0"/>
              <a:t>请规划好每道题目的作答区域，不要写的犬牙差互</a:t>
            </a:r>
            <a:endParaRPr lang="en-US" altLang="zh-CN" dirty="0"/>
          </a:p>
          <a:p>
            <a:r>
              <a:rPr lang="zh-CN" altLang="en-US" dirty="0"/>
              <a:t>不要吝惜纸张，字可以稍微写大一点，也适当留点区域让我写反馈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A92594-7E77-4994-B3A3-7621BAC6B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123" y="2617695"/>
            <a:ext cx="6056842" cy="37907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1910B7-50D9-4089-A5A5-B0B3F7FC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888" y="4157206"/>
            <a:ext cx="2234853" cy="2251285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B362BD2F-6DA1-4163-82FB-6F6D79CF2BE7}"/>
              </a:ext>
            </a:extLst>
          </p:cNvPr>
          <p:cNvSpPr/>
          <p:nvPr/>
        </p:nvSpPr>
        <p:spPr>
          <a:xfrm rot="10800000">
            <a:off x="7705493" y="3300761"/>
            <a:ext cx="769434" cy="52410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8F4E6D-0822-4B66-AFBD-CAF521AEF244}"/>
              </a:ext>
            </a:extLst>
          </p:cNvPr>
          <p:cNvSpPr txBox="1"/>
          <p:nvPr/>
        </p:nvSpPr>
        <p:spPr>
          <a:xfrm>
            <a:off x="8556644" y="3239648"/>
            <a:ext cx="3101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反面教材</a:t>
            </a:r>
          </a:p>
        </p:txBody>
      </p:sp>
    </p:spTree>
    <p:extLst>
      <p:ext uri="{BB962C8B-B14F-4D97-AF65-F5344CB8AC3E}">
        <p14:creationId xmlns:p14="http://schemas.microsoft.com/office/powerpoint/2010/main" val="3472705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79E64-E459-4CF2-BCA4-B5FE2FC2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初等数学复习（？）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6FB609-0910-40DD-8211-293194B18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求导公式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不等式放缩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解析几何基本完全用不到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证明方法：数学归纳，反证法，</a:t>
            </a:r>
            <a:r>
              <a:rPr lang="en-US" altLang="zh-CN" dirty="0" err="1"/>
              <a:t>etc</a:t>
            </a:r>
            <a:r>
              <a:rPr lang="en-US" altLang="zh-CN" dirty="0"/>
              <a:t>…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5.</a:t>
            </a:r>
            <a:r>
              <a:rPr lang="zh-CN" altLang="en-US" dirty="0">
                <a:solidFill>
                  <a:srgbClr val="FF0000"/>
                </a:solidFill>
              </a:rPr>
              <a:t>保证自己计算的稳定性</a:t>
            </a:r>
          </a:p>
        </p:txBody>
      </p:sp>
    </p:spTree>
    <p:extLst>
      <p:ext uri="{BB962C8B-B14F-4D97-AF65-F5344CB8AC3E}">
        <p14:creationId xmlns:p14="http://schemas.microsoft.com/office/powerpoint/2010/main" val="1213747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15479-D628-43BE-8FEE-1CE86E94A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346"/>
            <a:ext cx="10515600" cy="1325563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数学书写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AF4074-36C7-4554-B839-82B36484B3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4411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trike="sngStrike" dirty="0"/>
                  <a:t>∵因为   ∴所以    </a:t>
                </a:r>
                <a14:m>
                  <m:oMath xmlns:m="http://schemas.openxmlformats.org/officeDocument/2006/math">
                    <m:r>
                      <a:rPr lang="en-US" altLang="zh-CN" b="0" i="0" strike="sngStrike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∃ </m:t>
                    </m:r>
                  </m:oMath>
                </a14:m>
                <a:r>
                  <a:rPr lang="zh-CN" altLang="en-US" dirty="0"/>
                  <a:t>存在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任意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 </a:t>
                </a:r>
                <a:r>
                  <a:rPr lang="en-US" altLang="zh-CN" dirty="0" err="1"/>
                  <a:t>s.t.</a:t>
                </a:r>
                <a:r>
                  <a:rPr lang="en-US" altLang="zh-CN" dirty="0"/>
                  <a:t>   Such that  </a:t>
                </a:r>
                <a:r>
                  <a:rPr lang="zh-CN" altLang="en-US" dirty="0"/>
                  <a:t>使得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Q.E.D  </a:t>
                </a:r>
                <a:r>
                  <a:rPr lang="en-US" altLang="zh-CN" dirty="0" err="1"/>
                  <a:t>quod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erat</a:t>
                </a:r>
                <a:r>
                  <a:rPr lang="en-US" altLang="zh-CN" dirty="0"/>
                  <a:t> demonstrandum </a:t>
                </a:r>
                <a:r>
                  <a:rPr lang="zh-CN" altLang="en-US" dirty="0"/>
                  <a:t>证毕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Given /  By def  / therefore …… </a:t>
                </a:r>
                <a:r>
                  <a:rPr lang="zh-CN" altLang="en-US" dirty="0"/>
                  <a:t>（想严谨一点就用）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请不要自创写法 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缩写  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AF4074-36C7-4554-B839-82B36484B3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4411"/>
                <a:ext cx="10515600" cy="4351338"/>
              </a:xfrm>
              <a:blipFill>
                <a:blip r:embed="rId2"/>
                <a:stretch>
                  <a:fillRect l="-1043" t="-3361" b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507289FC-4113-4CBC-B0C7-97D83C29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500" y="4750420"/>
            <a:ext cx="3546993" cy="19720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DDA3108-A5CD-4E1B-904C-9A68274E541C}"/>
              </a:ext>
            </a:extLst>
          </p:cNvPr>
          <p:cNvSpPr txBox="1"/>
          <p:nvPr/>
        </p:nvSpPr>
        <p:spPr>
          <a:xfrm>
            <a:off x="7883913" y="1262536"/>
            <a:ext cx="3925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R,Z,N,Q</a:t>
            </a:r>
            <a:r>
              <a:rPr lang="zh-CN" altLang="en-US" sz="2800" dirty="0"/>
              <a:t>等数域集合书写，</a:t>
            </a:r>
            <a:endParaRPr lang="en-US" altLang="zh-CN" sz="2800" dirty="0"/>
          </a:p>
          <a:p>
            <a:r>
              <a:rPr lang="zh-CN" altLang="en-US" sz="2800" dirty="0"/>
              <a:t>建议按照老师要求。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7EE974-98D6-4B8E-9B86-4A4C2EAD3A23}"/>
              </a:ext>
            </a:extLst>
          </p:cNvPr>
          <p:cNvSpPr txBox="1"/>
          <p:nvPr/>
        </p:nvSpPr>
        <p:spPr>
          <a:xfrm>
            <a:off x="7883913" y="2480557"/>
            <a:ext cx="40255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</a:rPr>
              <a:t>慎用：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显然</a:t>
            </a:r>
            <a:r>
              <a:rPr lang="zh-CN" altLang="en-US" sz="2800" dirty="0">
                <a:latin typeface="+mn-ea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易得</a:t>
            </a:r>
            <a:r>
              <a:rPr lang="zh-CN" altLang="en-US" sz="2800" dirty="0">
                <a:latin typeface="+mn-ea"/>
              </a:rPr>
              <a:t>，</a:t>
            </a:r>
            <a:endParaRPr lang="en-US" altLang="zh-CN" sz="2800" dirty="0"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助教看不懂</a:t>
            </a:r>
            <a:r>
              <a:rPr lang="en-US" altLang="zh-CN" sz="2800" dirty="0" err="1">
                <a:latin typeface="+mn-ea"/>
              </a:rPr>
              <a:t>qwq</a:t>
            </a:r>
            <a:endParaRPr lang="zh-CN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3157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552599-2A15-4974-A260-A803BDE4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00" y="404597"/>
            <a:ext cx="11364800" cy="6048806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1.1.3 </a:t>
            </a:r>
            <a:r>
              <a:rPr lang="zh-CN" altLang="en-US" dirty="0"/>
              <a:t>有理数集和实数集的性质  </a:t>
            </a:r>
            <a:endParaRPr lang="en-US" altLang="zh-CN" dirty="0"/>
          </a:p>
          <a:p>
            <a:r>
              <a:rPr lang="zh-CN" altLang="en-US" dirty="0"/>
              <a:t>有理数集对四则运算是</a:t>
            </a:r>
            <a:r>
              <a:rPr lang="zh-CN" altLang="en-US" b="1" dirty="0">
                <a:solidFill>
                  <a:srgbClr val="FF0000"/>
                </a:solidFill>
              </a:rPr>
              <a:t>封闭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zh-CN" altLang="en-US" dirty="0"/>
              <a:t>有理数的稠密性，实数的连续性（更多请参考数学分析的内容）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1.1.4 </a:t>
            </a:r>
            <a:r>
              <a:rPr lang="zh-CN" altLang="en-US" dirty="0"/>
              <a:t>区间与领域   重视数学语言的书写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1.1.5</a:t>
            </a:r>
            <a:r>
              <a:rPr lang="zh-CN" altLang="en-US" dirty="0"/>
              <a:t>不等式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A-G</a:t>
            </a:r>
            <a:r>
              <a:rPr lang="zh-CN" altLang="en-US" dirty="0"/>
              <a:t>不等式 用数学归纳法证明 </a:t>
            </a:r>
            <a:r>
              <a:rPr lang="en-US" altLang="zh-CN" dirty="0"/>
              <a:t>P4</a:t>
            </a:r>
          </a:p>
          <a:p>
            <a:pPr marL="0" indent="0">
              <a:buNone/>
            </a:pPr>
            <a:r>
              <a:rPr lang="en-US" altLang="zh-CN" b="1" dirty="0"/>
              <a:t>    key trick  </a:t>
            </a:r>
            <a:r>
              <a:rPr lang="zh-CN" altLang="en-US" b="1" dirty="0"/>
              <a:t>：用二项式定理做放缩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</a:t>
            </a:r>
            <a:r>
              <a:rPr lang="zh-CN" altLang="en-US" dirty="0">
                <a:solidFill>
                  <a:srgbClr val="FF0000"/>
                </a:solidFill>
              </a:rPr>
              <a:t>三角不等式：重要缩放工具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Bernoulli</a:t>
            </a:r>
            <a:r>
              <a:rPr lang="zh-CN" altLang="en-US" b="1" dirty="0"/>
              <a:t>不等式怎么证明？作用是什么？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6068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2BA18-6799-4F03-830B-3BEEEC48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3596"/>
            <a:ext cx="10515600" cy="1325563"/>
          </a:xfrm>
        </p:spPr>
        <p:txBody>
          <a:bodyPr/>
          <a:lstStyle/>
          <a:p>
            <a:r>
              <a:rPr lang="zh-CN" altLang="en-US" dirty="0"/>
              <a:t>数学归纳法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E6DDD6-DB5F-47AF-B75C-CB9C0CFBE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9ECE9F-FD5C-49E3-A274-BF92D5C49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473198"/>
            <a:ext cx="5503144" cy="40975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8CCA15-AF68-40D6-8D04-B232CA9D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806" y="1473198"/>
            <a:ext cx="5850656" cy="40975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679CEA-609F-4414-A48A-14BDF729AA11}"/>
              </a:ext>
            </a:extLst>
          </p:cNvPr>
          <p:cNvSpPr txBox="1"/>
          <p:nvPr/>
        </p:nvSpPr>
        <p:spPr>
          <a:xfrm>
            <a:off x="470263" y="5904411"/>
            <a:ext cx="10646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相依选择公理？递推？    注意：一个是证明，一个是推理</a:t>
            </a:r>
          </a:p>
        </p:txBody>
      </p:sp>
    </p:spTree>
    <p:extLst>
      <p:ext uri="{BB962C8B-B14F-4D97-AF65-F5344CB8AC3E}">
        <p14:creationId xmlns:p14="http://schemas.microsoft.com/office/powerpoint/2010/main" val="3438008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059FD-0EF3-4962-94B7-87B188DE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1.1.6</a:t>
            </a:r>
            <a:r>
              <a:rPr lang="zh-CN" altLang="en-US" dirty="0"/>
              <a:t>数集的界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32ADE-9011-4369-A10A-C4CFCAACD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8D2545-62CD-4E70-827A-C3B63A66D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26" y="1579130"/>
            <a:ext cx="10401474" cy="407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4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0F23E-6CD7-48C0-92F6-8340E70D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512" y="275915"/>
            <a:ext cx="10515600" cy="1325563"/>
          </a:xfrm>
        </p:spPr>
        <p:txBody>
          <a:bodyPr/>
          <a:lstStyle/>
          <a:p>
            <a:r>
              <a:rPr lang="zh-CN" altLang="en-US" dirty="0"/>
              <a:t>上</a:t>
            </a:r>
            <a:r>
              <a:rPr lang="en-US" altLang="zh-CN" dirty="0"/>
              <a:t>/</a:t>
            </a:r>
            <a:r>
              <a:rPr lang="zh-CN" altLang="en-US" dirty="0"/>
              <a:t>下（确）界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CE32282-8FA9-4003-8E6F-7C3E0B4F0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80" y="1467664"/>
            <a:ext cx="8952571" cy="2772789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C866B7-EDA4-464D-AE74-487E87ACDEBF}"/>
              </a:ext>
            </a:extLst>
          </p:cNvPr>
          <p:cNvSpPr/>
          <p:nvPr/>
        </p:nvSpPr>
        <p:spPr>
          <a:xfrm>
            <a:off x="3523785" y="3065037"/>
            <a:ext cx="791737" cy="54640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69634E-616A-40A7-BB7C-128299B00418}"/>
              </a:ext>
            </a:extLst>
          </p:cNvPr>
          <p:cNvSpPr txBox="1"/>
          <p:nvPr/>
        </p:nvSpPr>
        <p:spPr>
          <a:xfrm>
            <a:off x="659780" y="4477034"/>
            <a:ext cx="54529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思考：下确界怎么写？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C51AF2-248B-4224-BD6B-7077CBF2BC58}"/>
              </a:ext>
            </a:extLst>
          </p:cNvPr>
          <p:cNvSpPr txBox="1"/>
          <p:nvPr/>
        </p:nvSpPr>
        <p:spPr>
          <a:xfrm>
            <a:off x="4869985" y="646308"/>
            <a:ext cx="6662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可以是渐进的，不一定有</a:t>
            </a:r>
            <a:r>
              <a:rPr lang="en-US" altLang="zh-CN" sz="3200" dirty="0">
                <a:solidFill>
                  <a:srgbClr val="FF0000"/>
                </a:solidFill>
              </a:rPr>
              <a:t>min/max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07232C-6088-4AA4-A1DC-11A10DA72159}"/>
              </a:ext>
            </a:extLst>
          </p:cNvPr>
          <p:cNvSpPr txBox="1"/>
          <p:nvPr/>
        </p:nvSpPr>
        <p:spPr>
          <a:xfrm>
            <a:off x="659780" y="562691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P6   </a:t>
            </a:r>
            <a:r>
              <a:rPr lang="zh-CN" altLang="en-US" sz="3200" dirty="0">
                <a:solidFill>
                  <a:srgbClr val="FF0000"/>
                </a:solidFill>
              </a:rPr>
              <a:t>为什么取</a:t>
            </a:r>
            <a:r>
              <a:rPr lang="en-US" altLang="zh-CN" sz="3200" dirty="0">
                <a:solidFill>
                  <a:srgbClr val="FF0000"/>
                </a:solidFill>
              </a:rPr>
              <a:t>k</a:t>
            </a:r>
            <a:r>
              <a:rPr lang="zh-CN" altLang="en-US" sz="3200" dirty="0">
                <a:solidFill>
                  <a:srgbClr val="FF0000"/>
                </a:solidFill>
              </a:rPr>
              <a:t>等于</a:t>
            </a:r>
            <a:r>
              <a:rPr lang="en-US" altLang="zh-CN" sz="3200" dirty="0">
                <a:solidFill>
                  <a:srgbClr val="FF0000"/>
                </a:solidFill>
              </a:rPr>
              <a:t>[1/epsilon]+1 ?</a:t>
            </a:r>
          </a:p>
        </p:txBody>
      </p:sp>
    </p:spTree>
    <p:extLst>
      <p:ext uri="{BB962C8B-B14F-4D97-AF65-F5344CB8AC3E}">
        <p14:creationId xmlns:p14="http://schemas.microsoft.com/office/powerpoint/2010/main" val="712986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DDA3AA-FA9B-4DB2-A0EF-42C2CB76A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815974"/>
            <a:ext cx="10515600" cy="4351338"/>
          </a:xfrm>
        </p:spPr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函数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72A64B-439A-4415-AB76-64ED30F2E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21" y="1420942"/>
            <a:ext cx="9515707" cy="21073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53662BE-FDB6-4986-84D8-A3576049E103}"/>
              </a:ext>
            </a:extLst>
          </p:cNvPr>
          <p:cNvSpPr txBox="1"/>
          <p:nvPr/>
        </p:nvSpPr>
        <p:spPr>
          <a:xfrm>
            <a:off x="1298186" y="3909317"/>
            <a:ext cx="89209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反函数前提：</a:t>
            </a:r>
            <a:r>
              <a:rPr lang="en-US" altLang="zh-CN" sz="2800" dirty="0"/>
              <a:t>f(x)</a:t>
            </a:r>
            <a:r>
              <a:rPr lang="zh-CN" altLang="en-US" sz="2800" dirty="0"/>
              <a:t>为双射，思考为什么两者缺一不可？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注意反函数的定义域！！！  </a:t>
            </a:r>
            <a:r>
              <a:rPr lang="en-US" altLang="zh-CN" sz="2800" dirty="0"/>
              <a:t>P14</a:t>
            </a:r>
          </a:p>
          <a:p>
            <a:endParaRPr lang="en-US" altLang="zh-CN" sz="2800" dirty="0"/>
          </a:p>
          <a:p>
            <a:r>
              <a:rPr lang="zh-CN" altLang="en-US" sz="2800" dirty="0"/>
              <a:t>函数的平移旋转翻折，基本用不到</a:t>
            </a:r>
          </a:p>
        </p:txBody>
      </p:sp>
    </p:spTree>
    <p:extLst>
      <p:ext uri="{BB962C8B-B14F-4D97-AF65-F5344CB8AC3E}">
        <p14:creationId xmlns:p14="http://schemas.microsoft.com/office/powerpoint/2010/main" val="2902669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CC1DE-4F91-4AAE-81CC-3883E5A7D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26" y="156119"/>
            <a:ext cx="10515600" cy="1325563"/>
          </a:xfrm>
        </p:spPr>
        <p:txBody>
          <a:bodyPr/>
          <a:lstStyle/>
          <a:p>
            <a:r>
              <a:rPr lang="zh-CN" altLang="en-US" dirty="0"/>
              <a:t>特别的函数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BFA56-DC0B-4063-AC05-51CA26A28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4" y="1421947"/>
            <a:ext cx="10515600" cy="4351338"/>
          </a:xfrm>
        </p:spPr>
        <p:txBody>
          <a:bodyPr/>
          <a:lstStyle/>
          <a:p>
            <a:r>
              <a:rPr lang="zh-CN" altLang="en-US" dirty="0"/>
              <a:t>取整函数  </a:t>
            </a:r>
            <a:r>
              <a:rPr lang="en-US" altLang="zh-CN" dirty="0"/>
              <a:t>f(x)=[x]    f(-2.5)=-3   </a:t>
            </a:r>
            <a:r>
              <a:rPr lang="zh-CN" altLang="en-US" dirty="0"/>
              <a:t>不超过</a:t>
            </a:r>
            <a:r>
              <a:rPr lang="en-US" altLang="zh-CN" dirty="0"/>
              <a:t>x</a:t>
            </a:r>
            <a:r>
              <a:rPr lang="zh-CN" altLang="en-US" dirty="0"/>
              <a:t>的最大整数，</a:t>
            </a:r>
            <a:r>
              <a:rPr lang="zh-CN" altLang="en-US" dirty="0">
                <a:solidFill>
                  <a:srgbClr val="FF0000"/>
                </a:solidFill>
              </a:rPr>
              <a:t>往数轴左侧取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Dirichlet </a:t>
            </a:r>
            <a:r>
              <a:rPr lang="zh-CN" altLang="en-US" dirty="0"/>
              <a:t>函数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CC8DD1-EBAC-4ECA-8C1A-19D784C54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582" y="3324496"/>
            <a:ext cx="6798391" cy="23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5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5879E2-7A56-4918-A5FD-352645E462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8350" y="719930"/>
                <a:ext cx="10655300" cy="560466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函数的有界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无界性质 </a:t>
                </a:r>
                <a:r>
                  <a:rPr lang="en-US" altLang="zh-CN" dirty="0"/>
                  <a:t>P17</a:t>
                </a:r>
              </a:p>
              <a:p>
                <a:r>
                  <a:rPr lang="zh-CN" altLang="en-US" dirty="0"/>
                  <a:t>类似数列，只是将离散</a:t>
                </a:r>
                <a:r>
                  <a:rPr lang="en-US" altLang="zh-CN" dirty="0">
                    <a:sym typeface="Wingdings" panose="05000000000000000000" pitchFamily="2" charset="2"/>
                  </a:rPr>
                  <a:t></a:t>
                </a:r>
                <a:r>
                  <a:rPr lang="zh-CN" altLang="en-US" dirty="0">
                    <a:sym typeface="Wingdings" panose="05000000000000000000" pitchFamily="2" charset="2"/>
                  </a:rPr>
                  <a:t>连续</a:t>
                </a:r>
                <a:endParaRPr lang="en-US" altLang="zh-CN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zh-CN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ym typeface="Wingdings" panose="05000000000000000000" pitchFamily="2" charset="2"/>
                  </a:rPr>
                  <a:t>双曲函数（很有意思的一类函数），在某些替换中效果很好</a:t>
                </a:r>
                <a:endParaRPr lang="en-US" altLang="zh-CN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ym typeface="Wingdings" panose="05000000000000000000" pitchFamily="2" charset="2"/>
                  </a:rPr>
                  <a:t>（</a:t>
                </a:r>
                <a:r>
                  <a:rPr lang="zh-CN" altLang="en-US" dirty="0"/>
                  <a:t>神经网络：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i="0" dirty="0"/>
                      <m:t>tanh</m:t>
                    </m:r>
                    <m:r>
                      <m:rPr>
                        <m:nor/>
                      </m:rPr>
                      <a:rPr lang="en-US" altLang="zh-CN" i="0" dirty="0"/>
                      <m:t>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（</m:t>
                    </m:r>
                    <m:r>
                      <m:rPr>
                        <m:nor/>
                      </m:rPr>
                      <a:rPr lang="en-US" altLang="zh-CN" i="0" dirty="0"/>
                      <m:t>x</m:t>
                    </m:r>
                    <m:r>
                      <m:rPr>
                        <m:nor/>
                      </m:rPr>
                      <a:rPr lang="en-US" altLang="zh-CN" i="0" dirty="0"/>
                      <m:t>)</m:t>
                    </m:r>
                  </m:oMath>
                </a14:m>
                <a:r>
                  <a:rPr lang="zh-CN" altLang="en-US" dirty="0"/>
                  <a:t> 常用作激活函数）</a:t>
                </a:r>
                <a:endParaRPr lang="en-US" altLang="zh-CN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zh-CN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隐函数   高数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Ⅱ</a:t>
                </a:r>
                <a:r>
                  <a:rPr lang="zh-CN" alt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高频出现</a:t>
                </a:r>
                <a:endParaRPr lang="en-US" altLang="zh-CN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参数方程   高数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Ⅱ</a:t>
                </a:r>
                <a:r>
                  <a:rPr lang="zh-CN" alt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高频出现</a:t>
                </a:r>
                <a:endParaRPr lang="en-US" altLang="zh-CN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ym typeface="Wingdings" panose="05000000000000000000" pitchFamily="2" charset="2"/>
                  </a:rPr>
                  <a:t>参数方程</a:t>
                </a:r>
                <a:r>
                  <a:rPr lang="en-US" altLang="zh-CN" dirty="0">
                    <a:sym typeface="Wingdings" panose="05000000000000000000" pitchFamily="2" charset="2"/>
                  </a:rPr>
                  <a:t>/</a:t>
                </a:r>
                <a:r>
                  <a:rPr lang="zh-CN" altLang="en-US" dirty="0">
                    <a:sym typeface="Wingdings" panose="05000000000000000000" pitchFamily="2" charset="2"/>
                  </a:rPr>
                  <a:t>极坐标方程作图</a:t>
                </a:r>
                <a:r>
                  <a:rPr lang="en-US" altLang="zh-CN" strike="sngStrike" dirty="0">
                    <a:sym typeface="Wingdings" panose="05000000000000000000" pitchFamily="2" charset="2"/>
                  </a:rPr>
                  <a:t>-&gt;</a:t>
                </a:r>
                <a:r>
                  <a:rPr lang="en-US" altLang="zh-CN" strike="sngStrike" dirty="0" err="1">
                    <a:sym typeface="Wingdings" panose="05000000000000000000" pitchFamily="2" charset="2"/>
                  </a:rPr>
                  <a:t>geogebra</a:t>
                </a:r>
                <a:r>
                  <a:rPr lang="zh-CN" altLang="en-US" strike="sngStrike" dirty="0">
                    <a:sym typeface="Wingdings" panose="05000000000000000000" pitchFamily="2" charset="2"/>
                  </a:rPr>
                  <a:t>，</a:t>
                </a:r>
                <a:r>
                  <a:rPr lang="en-US" altLang="zh-CN" strike="sngStrike" dirty="0">
                    <a:sym typeface="Wingdings" panose="05000000000000000000" pitchFamily="2" charset="2"/>
                  </a:rPr>
                  <a:t>   </a:t>
                </a:r>
                <a:r>
                  <a:rPr lang="zh-CN" altLang="en-US" dirty="0">
                    <a:sym typeface="Wingdings" panose="05000000000000000000" pitchFamily="2" charset="2"/>
                  </a:rPr>
                  <a:t>请描点作图</a:t>
                </a:r>
                <a:endParaRPr lang="en-US" altLang="zh-CN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ym typeface="Wingdings" panose="05000000000000000000" pitchFamily="2" charset="2"/>
                  </a:rPr>
                  <a:t>			</a:t>
                </a:r>
                <a:r>
                  <a:rPr lang="zh-CN" altLang="en-US" dirty="0">
                    <a:sym typeface="Wingdings" panose="05000000000000000000" pitchFamily="2" charset="2"/>
                  </a:rPr>
                  <a:t>与标准方程转化  </a:t>
                </a:r>
                <a:r>
                  <a:rPr lang="en-US" altLang="zh-CN" dirty="0">
                    <a:sym typeface="Wingdings" panose="05000000000000000000" pitchFamily="2" charset="2"/>
                  </a:rPr>
                  <a:t>x=</a:t>
                </a:r>
                <a:r>
                  <a:rPr lang="en-US" altLang="zh-CN" dirty="0" err="1">
                    <a:sym typeface="Wingdings" panose="05000000000000000000" pitchFamily="2" charset="2"/>
                  </a:rPr>
                  <a:t>rcos</a:t>
                </a:r>
                <a:r>
                  <a:rPr lang="en-US" altLang="zh-CN" dirty="0">
                    <a:sym typeface="Wingdings" panose="05000000000000000000" pitchFamily="2" charset="2"/>
                  </a:rPr>
                  <a:t>(</a:t>
                </a:r>
                <a:r>
                  <a:rPr lang="en-US" altLang="zh-CN" dirty="0" err="1">
                    <a:sym typeface="Wingdings" panose="05000000000000000000" pitchFamily="2" charset="2"/>
                  </a:rPr>
                  <a:t>thieta</a:t>
                </a:r>
                <a:r>
                  <a:rPr lang="en-US" altLang="zh-CN" dirty="0">
                    <a:sym typeface="Wingdings" panose="05000000000000000000" pitchFamily="2" charset="2"/>
                  </a:rPr>
                  <a:t>)</a:t>
                </a:r>
                <a:r>
                  <a:rPr lang="zh-CN" altLang="en-US" dirty="0">
                    <a:sym typeface="Wingdings" panose="05000000000000000000" pitchFamily="2" charset="2"/>
                  </a:rPr>
                  <a:t>  </a:t>
                </a:r>
                <a:r>
                  <a:rPr lang="en-US" altLang="zh-CN" dirty="0">
                    <a:sym typeface="Wingdings" panose="05000000000000000000" pitchFamily="2" charset="2"/>
                  </a:rPr>
                  <a:t>y=</a:t>
                </a:r>
                <a:r>
                  <a:rPr lang="en-US" altLang="zh-CN" dirty="0" err="1">
                    <a:sym typeface="Wingdings" panose="05000000000000000000" pitchFamily="2" charset="2"/>
                  </a:rPr>
                  <a:t>rsin</a:t>
                </a:r>
                <a:r>
                  <a:rPr lang="en-US" altLang="zh-CN" dirty="0">
                    <a:sym typeface="Wingdings" panose="05000000000000000000" pitchFamily="2" charset="2"/>
                  </a:rPr>
                  <a:t>(</a:t>
                </a:r>
                <a:r>
                  <a:rPr lang="en-US" altLang="zh-CN" dirty="0" err="1">
                    <a:sym typeface="Wingdings" panose="05000000000000000000" pitchFamily="2" charset="2"/>
                  </a:rPr>
                  <a:t>thieta</a:t>
                </a:r>
                <a:r>
                  <a:rPr lang="en-US" altLang="zh-CN" dirty="0"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CN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zh-CN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5879E2-7A56-4918-A5FD-352645E462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8350" y="719930"/>
                <a:ext cx="10655300" cy="5604669"/>
              </a:xfrm>
              <a:blipFill>
                <a:blip r:embed="rId2"/>
                <a:stretch>
                  <a:fillRect l="-1144" t="-1959" b="-2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4060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CC4E-CCA9-425A-BEB6-45FF7EE8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Thinking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C9CEF73-CBCC-4805-A2A2-75806749E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02" r="2515" b="8132"/>
          <a:stretch/>
        </p:blipFill>
        <p:spPr>
          <a:xfrm>
            <a:off x="446087" y="1574800"/>
            <a:ext cx="10610522" cy="106680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D49DF06-1861-4063-9118-7EB72327ECF8}"/>
              </a:ext>
            </a:extLst>
          </p:cNvPr>
          <p:cNvSpPr txBox="1"/>
          <p:nvPr/>
        </p:nvSpPr>
        <p:spPr>
          <a:xfrm>
            <a:off x="1193800" y="2857500"/>
            <a:ext cx="4533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Hint</a:t>
            </a:r>
            <a:r>
              <a:rPr lang="zh-CN" altLang="en-US" sz="2400" dirty="0"/>
              <a:t>：尝试反证法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912D575-5917-4043-8119-AA989036BA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" b="31667"/>
          <a:stretch/>
        </p:blipFill>
        <p:spPr>
          <a:xfrm>
            <a:off x="446087" y="3695700"/>
            <a:ext cx="10272712" cy="9112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17DECE5-3E1A-4CAD-99E0-CC3546197A14}"/>
              </a:ext>
            </a:extLst>
          </p:cNvPr>
          <p:cNvSpPr txBox="1"/>
          <p:nvPr/>
        </p:nvSpPr>
        <p:spPr>
          <a:xfrm>
            <a:off x="1193800" y="4831060"/>
            <a:ext cx="311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Hint</a:t>
            </a:r>
            <a:r>
              <a:rPr lang="zh-CN" altLang="en-US" sz="2400" dirty="0"/>
              <a:t>：尝试长除法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CDE69A-30A7-4A81-BB42-971CEBE6B9A3}"/>
              </a:ext>
            </a:extLst>
          </p:cNvPr>
          <p:cNvSpPr txBox="1"/>
          <p:nvPr/>
        </p:nvSpPr>
        <p:spPr>
          <a:xfrm>
            <a:off x="8305800" y="487722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Provided by </a:t>
            </a:r>
            <a:r>
              <a:rPr lang="en-US" altLang="zh-CN" dirty="0" err="1"/>
              <a:t>Prof.Qiang</a:t>
            </a:r>
            <a:r>
              <a:rPr lang="en-US" altLang="zh-CN" dirty="0"/>
              <a:t> Wang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5708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B6485-1BF0-42A7-8516-3E0A7D4FB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27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7200" dirty="0" err="1"/>
              <a:t>That’all</a:t>
            </a:r>
            <a:r>
              <a:rPr lang="en-US" altLang="zh-CN" sz="7200" dirty="0"/>
              <a:t> ,thanks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573215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F239E-46D7-CB52-7636-A03BFA43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6180B-E3CA-628E-5E83-E26E733FA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878" y="-45493"/>
            <a:ext cx="9144000" cy="2387600"/>
          </a:xfrm>
        </p:spPr>
        <p:txBody>
          <a:bodyPr/>
          <a:lstStyle/>
          <a:p>
            <a:r>
              <a:rPr lang="zh-CN" altLang="en-US" dirty="0"/>
              <a:t>高数</a:t>
            </a:r>
            <a:r>
              <a:rPr lang="en-US" altLang="zh-CN" dirty="0"/>
              <a:t>Ⅰ</a:t>
            </a:r>
            <a:r>
              <a:rPr lang="zh-CN" altLang="en-US" dirty="0"/>
              <a:t>习题课</a:t>
            </a:r>
            <a:br>
              <a:rPr lang="en-US" altLang="zh-CN" dirty="0"/>
            </a:br>
            <a:r>
              <a:rPr lang="en-US" altLang="zh-CN" sz="4000" dirty="0"/>
              <a:t>Week2</a:t>
            </a:r>
            <a:endParaRPr lang="zh-CN" altLang="en-US" sz="4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CB3D01-93F0-203B-A53D-E27F0C65F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971" y="2932386"/>
            <a:ext cx="4350029" cy="35654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A543ADD-28B6-DB81-199D-92B85C434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775" y="2608083"/>
            <a:ext cx="1771855" cy="2472394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3241D844-1EDF-F048-D115-823C96C7458A}"/>
              </a:ext>
            </a:extLst>
          </p:cNvPr>
          <p:cNvSpPr/>
          <p:nvPr/>
        </p:nvSpPr>
        <p:spPr>
          <a:xfrm rot="10525117">
            <a:off x="5629308" y="3516817"/>
            <a:ext cx="2208425" cy="239647"/>
          </a:xfrm>
          <a:prstGeom prst="rightArrow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F80E12-5142-874D-9112-529E99AB7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548" y="59996"/>
            <a:ext cx="2202105" cy="295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39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12558-C81E-4DEE-1CD5-73C707342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作业反馈（需要</a:t>
            </a:r>
            <a:r>
              <a:rPr lang="en-US" altLang="zh-CN" dirty="0"/>
              <a:t>argue</a:t>
            </a:r>
            <a:r>
              <a:rPr lang="zh-CN" altLang="en-US" dirty="0"/>
              <a:t>随时）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89FB1-815E-8F34-552B-061918ABB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056" y="2063437"/>
            <a:ext cx="781301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总共</a:t>
            </a:r>
            <a:r>
              <a:rPr lang="en-US" altLang="zh-CN" dirty="0"/>
              <a:t>20%</a:t>
            </a:r>
            <a:r>
              <a:rPr lang="zh-CN" altLang="en-US" dirty="0"/>
              <a:t>的作业＋</a:t>
            </a:r>
            <a:r>
              <a:rPr lang="en-US" altLang="zh-CN" dirty="0"/>
              <a:t>quiz</a:t>
            </a:r>
            <a:r>
              <a:rPr lang="zh-CN" altLang="en-US" dirty="0"/>
              <a:t>；假设</a:t>
            </a:r>
            <a:r>
              <a:rPr lang="en-US" altLang="zh-CN" dirty="0"/>
              <a:t>15</a:t>
            </a:r>
            <a:r>
              <a:rPr lang="zh-CN" altLang="en-US" dirty="0"/>
              <a:t>次作业，每次作业占比</a:t>
            </a:r>
            <a:r>
              <a:rPr lang="en-US" altLang="zh-CN" dirty="0"/>
              <a:t>1%</a:t>
            </a:r>
            <a:r>
              <a:rPr lang="zh-CN" altLang="en-US" dirty="0"/>
              <a:t>，每次作业总分</a:t>
            </a:r>
            <a:r>
              <a:rPr lang="en-US" altLang="zh-CN" dirty="0"/>
              <a:t>10</a:t>
            </a:r>
            <a:r>
              <a:rPr lang="zh-CN" altLang="en-US" dirty="0"/>
              <a:t>分。</a:t>
            </a:r>
            <a:endParaRPr lang="en-US" altLang="zh-CN" dirty="0"/>
          </a:p>
          <a:p>
            <a:r>
              <a:rPr lang="zh-CN" altLang="en-US" dirty="0"/>
              <a:t>作业</a:t>
            </a:r>
            <a:r>
              <a:rPr lang="en-US" altLang="zh-CN" dirty="0"/>
              <a:t>9</a:t>
            </a:r>
            <a:r>
              <a:rPr lang="zh-CN" altLang="en-US" dirty="0"/>
              <a:t>分</a:t>
            </a:r>
            <a:r>
              <a:rPr lang="en-US" altLang="zh-CN" dirty="0"/>
              <a:t>=100-0.1=99.9</a:t>
            </a:r>
            <a:r>
              <a:rPr lang="zh-CN" altLang="en-US" dirty="0"/>
              <a:t>（课程总分）</a:t>
            </a:r>
            <a:endParaRPr lang="en-US" altLang="zh-CN" dirty="0"/>
          </a:p>
          <a:p>
            <a:r>
              <a:rPr lang="zh-CN" altLang="en-US" dirty="0"/>
              <a:t>影响等同于：期末考试多考</a:t>
            </a:r>
            <a:r>
              <a:rPr lang="en-US" altLang="zh-CN" dirty="0">
                <a:solidFill>
                  <a:srgbClr val="FF0000"/>
                </a:solidFill>
              </a:rPr>
              <a:t>0.2</a:t>
            </a:r>
            <a:r>
              <a:rPr lang="zh-CN" altLang="en-US" dirty="0">
                <a:solidFill>
                  <a:srgbClr val="FF0000"/>
                </a:solidFill>
              </a:rPr>
              <a:t>分</a:t>
            </a:r>
            <a:r>
              <a:rPr lang="zh-CN" altLang="en-US" dirty="0"/>
              <a:t>即可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一些小建议：纸可以换大点，订书机订一下再交，可以写在</a:t>
            </a:r>
            <a:r>
              <a:rPr lang="en-US" altLang="zh-CN" dirty="0"/>
              <a:t>pad</a:t>
            </a:r>
            <a:r>
              <a:rPr lang="zh-CN" altLang="en-US" dirty="0"/>
              <a:t>上再打印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DBD2B4-3535-CE74-4A87-83F7EF898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193" y="2121679"/>
            <a:ext cx="2943404" cy="297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76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88CD3-69E3-48F6-A267-EB55549E1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65B31463-593C-4FE7-AA2C-682A8D8C4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" y="100647"/>
            <a:ext cx="7296742" cy="4891614"/>
          </a:xfr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3F964FE-F0E2-4181-AEDD-414F9C00267E}"/>
              </a:ext>
            </a:extLst>
          </p:cNvPr>
          <p:cNvSpPr txBox="1"/>
          <p:nvPr/>
        </p:nvSpPr>
        <p:spPr>
          <a:xfrm>
            <a:off x="7785103" y="1955166"/>
            <a:ext cx="45783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为什么可以“不妨”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什么时候可以写不妨？</a:t>
            </a:r>
            <a:endParaRPr lang="en-US" altLang="zh-CN" sz="3200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D99E23-2C51-AF82-00B6-3665DD2DD3EC}"/>
              </a:ext>
            </a:extLst>
          </p:cNvPr>
          <p:cNvSpPr txBox="1"/>
          <p:nvPr/>
        </p:nvSpPr>
        <p:spPr>
          <a:xfrm>
            <a:off x="838200" y="5003027"/>
            <a:ext cx="102591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通过逆推找这个</a:t>
            </a:r>
            <a:r>
              <a:rPr lang="en-US" altLang="zh-CN" sz="3600" dirty="0"/>
              <a:t>N</a:t>
            </a:r>
            <a:r>
              <a:rPr lang="zh-CN" altLang="en-US" sz="3600" dirty="0"/>
              <a:t>，但是考卷上我们更在意的是，当取</a:t>
            </a:r>
            <a:r>
              <a:rPr lang="en-US" altLang="zh-CN" sz="3600" dirty="0"/>
              <a:t>n&gt;N</a:t>
            </a:r>
            <a:r>
              <a:rPr lang="zh-CN" altLang="en-US" sz="3600" dirty="0"/>
              <a:t>时，怎么放缩到和</a:t>
            </a:r>
            <a:r>
              <a:rPr lang="en-US" altLang="zh-CN" sz="3600" dirty="0"/>
              <a:t>ε</a:t>
            </a:r>
            <a:r>
              <a:rPr lang="zh-CN" altLang="en-US" sz="3600" dirty="0"/>
              <a:t>有关的那个目标！</a:t>
            </a:r>
            <a:endParaRPr lang="en-US" altLang="zh-CN" sz="3600" dirty="0"/>
          </a:p>
          <a:p>
            <a:r>
              <a:rPr lang="zh-CN" altLang="en-US" sz="3600" dirty="0">
                <a:solidFill>
                  <a:srgbClr val="FF0000"/>
                </a:solidFill>
              </a:rPr>
              <a:t>但是也可以将逻辑链写在答题过程中</a:t>
            </a:r>
          </a:p>
        </p:txBody>
      </p:sp>
    </p:spTree>
    <p:extLst>
      <p:ext uri="{BB962C8B-B14F-4D97-AF65-F5344CB8AC3E}">
        <p14:creationId xmlns:p14="http://schemas.microsoft.com/office/powerpoint/2010/main" val="264632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CBD74-806A-1DF4-160A-E7C8B401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3D8140-BF28-B0A5-8FB0-8335D6B23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数列的极限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368865-3EF8-5A31-A77A-700A8D8E9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84" y="2634892"/>
            <a:ext cx="10308431" cy="35420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4D02A39-DE95-3972-11FD-488AE4669DD7}"/>
              </a:ext>
            </a:extLst>
          </p:cNvPr>
          <p:cNvSpPr/>
          <p:nvPr/>
        </p:nvSpPr>
        <p:spPr>
          <a:xfrm>
            <a:off x="5757863" y="3128963"/>
            <a:ext cx="2193131" cy="678656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13644D-9D18-3328-2FFD-0713804F6F94}"/>
              </a:ext>
            </a:extLst>
          </p:cNvPr>
          <p:cNvSpPr txBox="1"/>
          <p:nvPr/>
        </p:nvSpPr>
        <p:spPr>
          <a:xfrm>
            <a:off x="5372100" y="2530614"/>
            <a:ext cx="2964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与无界的概念区分开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81B644-3D04-94AF-A8DC-D0AAEB1F93B3}"/>
              </a:ext>
            </a:extLst>
          </p:cNvPr>
          <p:cNvSpPr txBox="1"/>
          <p:nvPr/>
        </p:nvSpPr>
        <p:spPr>
          <a:xfrm>
            <a:off x="5893593" y="1151027"/>
            <a:ext cx="4636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Thinking</a:t>
            </a:r>
            <a:r>
              <a:rPr lang="zh-CN" altLang="en-US" sz="2400" b="1" dirty="0"/>
              <a:t>：给出一下例子</a:t>
            </a:r>
            <a:endParaRPr lang="en-US" altLang="zh-CN" sz="2400" b="1" dirty="0"/>
          </a:p>
          <a:p>
            <a:r>
              <a:rPr lang="en-US" altLang="zh-CN" sz="2400" b="1" dirty="0"/>
              <a:t>1.</a:t>
            </a:r>
            <a:r>
              <a:rPr lang="zh-CN" altLang="en-US" sz="2400" b="1" dirty="0"/>
              <a:t>有界数列但是无极限</a:t>
            </a:r>
            <a:endParaRPr lang="en-US" altLang="zh-CN" sz="2400" b="1" dirty="0"/>
          </a:p>
          <a:p>
            <a:r>
              <a:rPr lang="en-US" altLang="zh-CN" sz="2400" b="1" dirty="0"/>
              <a:t>2.</a:t>
            </a:r>
            <a:r>
              <a:rPr lang="zh-CN" altLang="en-US" sz="2400" b="1" dirty="0"/>
              <a:t>无界数列但不是无穷大</a:t>
            </a:r>
          </a:p>
        </p:txBody>
      </p:sp>
    </p:spTree>
    <p:extLst>
      <p:ext uri="{BB962C8B-B14F-4D97-AF65-F5344CB8AC3E}">
        <p14:creationId xmlns:p14="http://schemas.microsoft.com/office/powerpoint/2010/main" val="2172968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0DD942-A87B-61B7-3607-EA3837C1503A}"/>
              </a:ext>
            </a:extLst>
          </p:cNvPr>
          <p:cNvSpPr txBox="1"/>
          <p:nvPr/>
        </p:nvSpPr>
        <p:spPr>
          <a:xfrm>
            <a:off x="1245392" y="801884"/>
            <a:ext cx="10456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通解：逆推，把</a:t>
            </a:r>
            <a:r>
              <a:rPr lang="en-US" altLang="zh-CN" sz="3600" b="1" dirty="0">
                <a:solidFill>
                  <a:srgbClr val="FF0000"/>
                </a:solidFill>
              </a:rPr>
              <a:t>ε</a:t>
            </a:r>
            <a:r>
              <a:rPr lang="zh-CN" altLang="en-US" sz="3600" b="1" dirty="0">
                <a:solidFill>
                  <a:srgbClr val="FF0000"/>
                </a:solidFill>
              </a:rPr>
              <a:t>看作常数，去解关于</a:t>
            </a:r>
            <a:r>
              <a:rPr lang="en-US" altLang="zh-CN" sz="3600" b="1" dirty="0">
                <a:solidFill>
                  <a:srgbClr val="FF0000"/>
                </a:solidFill>
              </a:rPr>
              <a:t>n</a:t>
            </a:r>
            <a:r>
              <a:rPr lang="zh-CN" altLang="en-US" sz="3600" b="1" dirty="0">
                <a:solidFill>
                  <a:srgbClr val="FF0000"/>
                </a:solidFill>
              </a:rPr>
              <a:t>的不等式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5F20F7-D2EB-1EFC-496E-50A9A85036F8}"/>
              </a:ext>
            </a:extLst>
          </p:cNvPr>
          <p:cNvSpPr txBox="1"/>
          <p:nvPr/>
        </p:nvSpPr>
        <p:spPr>
          <a:xfrm>
            <a:off x="323850" y="1947147"/>
            <a:ext cx="115419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1.</a:t>
            </a:r>
            <a:r>
              <a:rPr lang="zh-CN" altLang="en-US" sz="3200" dirty="0"/>
              <a:t>放缩法解不等式</a:t>
            </a:r>
            <a:endParaRPr lang="en-US" altLang="zh-CN" sz="3200" dirty="0"/>
          </a:p>
          <a:p>
            <a:r>
              <a:rPr lang="zh-CN" altLang="en-US" sz="3200" dirty="0"/>
              <a:t>降次（指数函数降为幂函数等），抛弃常数项</a:t>
            </a:r>
            <a:r>
              <a:rPr lang="en-US" altLang="zh-CN" sz="3200" dirty="0"/>
              <a:t>/</a:t>
            </a:r>
            <a:r>
              <a:rPr lang="zh-CN" altLang="en-US" sz="3200" dirty="0"/>
              <a:t>低次数项（</a:t>
            </a:r>
            <a:r>
              <a:rPr lang="en-US" altLang="zh-CN" sz="3200" dirty="0"/>
              <a:t>n</a:t>
            </a:r>
            <a:r>
              <a:rPr lang="zh-CN" altLang="en-US" sz="3200" dirty="0"/>
              <a:t>足够大时常数项作用很弱），函数单调性分析，</a:t>
            </a:r>
            <a:r>
              <a:rPr lang="en-US" altLang="zh-CN" sz="3200" dirty="0" err="1"/>
              <a:t>etc</a:t>
            </a:r>
            <a:r>
              <a:rPr lang="en-US" altLang="zh-CN" sz="3200" dirty="0"/>
              <a:t>…</a:t>
            </a:r>
          </a:p>
          <a:p>
            <a:r>
              <a:rPr lang="en-US" altLang="zh-CN" sz="3200" dirty="0"/>
              <a:t>2.</a:t>
            </a:r>
            <a:r>
              <a:rPr lang="zh-CN" altLang="en-US" sz="3200" dirty="0"/>
              <a:t>分子有理化法解不等式（碰到根式无法解方程）</a:t>
            </a:r>
            <a:endParaRPr lang="en-US" altLang="zh-CN" sz="3200" dirty="0"/>
          </a:p>
          <a:p>
            <a:r>
              <a:rPr lang="en-US" altLang="zh-CN" sz="3200" dirty="0"/>
              <a:t>3.</a:t>
            </a:r>
            <a:r>
              <a:rPr lang="zh-CN" altLang="en-US" sz="3200" dirty="0"/>
              <a:t>分析法解不等式（其实基本都需要分析，瞪眼法基本瞪不出来）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6339DC-EBAB-8781-71B7-638DD45A6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8" y="5703096"/>
            <a:ext cx="11809938" cy="82367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FFD3D9C-AE2C-14BB-4FCF-E495327C784C}"/>
              </a:ext>
            </a:extLst>
          </p:cNvPr>
          <p:cNvSpPr txBox="1"/>
          <p:nvPr/>
        </p:nvSpPr>
        <p:spPr>
          <a:xfrm>
            <a:off x="214312" y="5000624"/>
            <a:ext cx="5036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函数变化速率参考：</a:t>
            </a:r>
          </a:p>
        </p:txBody>
      </p:sp>
    </p:spTree>
    <p:extLst>
      <p:ext uri="{BB962C8B-B14F-4D97-AF65-F5344CB8AC3E}">
        <p14:creationId xmlns:p14="http://schemas.microsoft.com/office/powerpoint/2010/main" val="1990879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B2A17-CD62-4889-A448-5219D8093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>
                <a:solidFill>
                  <a:srgbClr val="FF0000"/>
                </a:solidFill>
              </a:rPr>
              <a:t>适当放大法（见</a:t>
            </a:r>
            <a:r>
              <a:rPr lang="en-US" altLang="zh-CN" sz="4400" dirty="0">
                <a:solidFill>
                  <a:srgbClr val="FF0000"/>
                </a:solidFill>
              </a:rPr>
              <a:t>2.4</a:t>
            </a:r>
            <a:r>
              <a:rPr lang="zh-CN" altLang="en-US" sz="4400" dirty="0">
                <a:solidFill>
                  <a:srgbClr val="FF0000"/>
                </a:solidFill>
              </a:rPr>
              <a:t>）</a:t>
            </a:r>
            <a:br>
              <a:rPr lang="zh-CN" altLang="en-US" sz="4400" dirty="0">
                <a:solidFill>
                  <a:srgbClr val="FF0000"/>
                </a:solidFill>
              </a:rPr>
            </a:b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361DA2-B230-4294-9DEE-9163811E9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25" y="1542851"/>
            <a:ext cx="11599792" cy="2148835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99384FF-EC91-4071-A792-A653CF457790}"/>
              </a:ext>
            </a:extLst>
          </p:cNvPr>
          <p:cNvSpPr txBox="1"/>
          <p:nvPr/>
        </p:nvSpPr>
        <p:spPr>
          <a:xfrm>
            <a:off x="577279" y="4010924"/>
            <a:ext cx="120814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/>
              <a:t>回归放缩技巧的问题</a:t>
            </a:r>
            <a:endParaRPr lang="en-US" altLang="zh-CN" sz="4800" b="1" dirty="0"/>
          </a:p>
          <a:p>
            <a:endParaRPr lang="en-US" altLang="zh-CN" sz="4800" b="1" dirty="0"/>
          </a:p>
          <a:p>
            <a:r>
              <a:rPr lang="zh-CN" altLang="en-US" sz="4800" dirty="0"/>
              <a:t>补充不等式                         （</a:t>
            </a:r>
            <a:r>
              <a:rPr lang="en-US" altLang="zh-CN" sz="4800" dirty="0"/>
              <a:t>a&gt;1)   </a:t>
            </a:r>
            <a:r>
              <a:rPr lang="zh-CN" altLang="en-US" sz="2400" dirty="0"/>
              <a:t>伯努利不等式变体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23DE4F-D2D1-6905-A75D-7E03F5B78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742" y="5373505"/>
            <a:ext cx="2715004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60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194CC-A548-464C-85C8-1DE87C772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无穷大，无穷小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9A5528-B49B-453D-89BD-C0BFEDB3D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无界不一定无穷大，无穷大一定无界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有界</a:t>
            </a:r>
            <a:r>
              <a:rPr lang="en-US" altLang="zh-CN" dirty="0"/>
              <a:t>*</a:t>
            </a:r>
            <a:r>
              <a:rPr lang="zh-CN" altLang="en-US" dirty="0"/>
              <a:t>无穷大</a:t>
            </a:r>
            <a:r>
              <a:rPr lang="en-US" altLang="zh-CN" dirty="0"/>
              <a:t>=</a:t>
            </a:r>
            <a:r>
              <a:rPr lang="zh-CN" altLang="en-US" dirty="0"/>
              <a:t>无穷大</a:t>
            </a:r>
            <a:r>
              <a:rPr lang="en-US" altLang="zh-CN" dirty="0"/>
              <a:t>,</a:t>
            </a:r>
            <a:r>
              <a:rPr lang="zh-CN" altLang="en-US" dirty="0"/>
              <a:t>趋近于</a:t>
            </a:r>
            <a:r>
              <a:rPr lang="en-US" altLang="zh-CN" dirty="0"/>
              <a:t>0*</a:t>
            </a:r>
            <a:r>
              <a:rPr lang="zh-CN" altLang="en-US" dirty="0"/>
              <a:t>无穷大</a:t>
            </a:r>
            <a:r>
              <a:rPr lang="en-US" altLang="zh-CN" dirty="0"/>
              <a:t>=</a:t>
            </a:r>
            <a:r>
              <a:rPr lang="zh-CN" altLang="en-US" dirty="0"/>
              <a:t>不确定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区分与无界，有界的关系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有限个无穷小的和还是无穷小</a:t>
            </a:r>
          </a:p>
        </p:txBody>
      </p:sp>
    </p:spTree>
    <p:extLst>
      <p:ext uri="{BB962C8B-B14F-4D97-AF65-F5344CB8AC3E}">
        <p14:creationId xmlns:p14="http://schemas.microsoft.com/office/powerpoint/2010/main" val="4288180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22A5C-332D-E86D-5A1C-3764040A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69" y="18255"/>
            <a:ext cx="10515600" cy="1325563"/>
          </a:xfrm>
        </p:spPr>
        <p:txBody>
          <a:bodyPr/>
          <a:lstStyle/>
          <a:p>
            <a:r>
              <a:rPr lang="zh-CN" altLang="en-US" dirty="0"/>
              <a:t>数列极限的性质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00008-BA2C-5D18-9B5E-BC3AE178E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269" y="1233181"/>
            <a:ext cx="10515600" cy="4351338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唯一性（反证法</a:t>
            </a:r>
            <a:r>
              <a:rPr lang="en-US" altLang="zh-CN" dirty="0"/>
              <a:t>+</a:t>
            </a:r>
            <a:r>
              <a:rPr lang="zh-CN" altLang="en-US" dirty="0"/>
              <a:t>取中间值）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有界性（易证）</a:t>
            </a:r>
            <a:endParaRPr lang="en-US" altLang="zh-CN" dirty="0"/>
          </a:p>
          <a:p>
            <a:r>
              <a:rPr lang="en-US" altLang="zh-CN" dirty="0">
                <a:hlinkClick r:id="rId2" action="ppaction://hlinkfile"/>
              </a:rPr>
              <a:t>3</a:t>
            </a:r>
            <a:r>
              <a:rPr lang="en-US" altLang="zh-CN" dirty="0"/>
              <a:t>.</a:t>
            </a:r>
            <a:r>
              <a:rPr lang="zh-CN" altLang="en-US" dirty="0"/>
              <a:t>改变数列</a:t>
            </a:r>
            <a:r>
              <a:rPr lang="zh-CN" altLang="en-US" dirty="0">
                <a:solidFill>
                  <a:srgbClr val="FF0000"/>
                </a:solidFill>
              </a:rPr>
              <a:t>有限项</a:t>
            </a:r>
            <a:r>
              <a:rPr lang="zh-CN" altLang="en-US" dirty="0"/>
              <a:t>，收敛性不变，且在收敛时极限值不变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保序性（推出保号性）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归并性（常用于判定数列极限</a:t>
            </a:r>
            <a:r>
              <a:rPr lang="zh-CN" altLang="en-US" dirty="0">
                <a:solidFill>
                  <a:srgbClr val="FF0000"/>
                </a:solidFill>
              </a:rPr>
              <a:t>不存在</a:t>
            </a:r>
            <a:r>
              <a:rPr lang="en-US" altLang="zh-CN" dirty="0"/>
              <a:t>/</a:t>
            </a:r>
            <a:r>
              <a:rPr lang="zh-CN" altLang="en-US" dirty="0"/>
              <a:t>是否</a:t>
            </a:r>
            <a:r>
              <a:rPr lang="zh-CN" altLang="en-US" dirty="0">
                <a:solidFill>
                  <a:srgbClr val="FF0000"/>
                </a:solidFill>
              </a:rPr>
              <a:t>不是无穷大量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DD1D9C-A086-072C-0365-3D9F75B98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3920270"/>
            <a:ext cx="7408069" cy="287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09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D6056-8C3E-5623-A223-B3D40643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981"/>
            <a:ext cx="10515600" cy="1325563"/>
          </a:xfrm>
        </p:spPr>
        <p:txBody>
          <a:bodyPr/>
          <a:lstStyle/>
          <a:p>
            <a:r>
              <a:rPr lang="zh-CN" altLang="en-US" dirty="0"/>
              <a:t>归并性推论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4AE3C-D8B6-9114-B333-7319AF787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836" y="1683544"/>
            <a:ext cx="11526328" cy="4351338"/>
          </a:xfrm>
        </p:spPr>
        <p:txBody>
          <a:bodyPr/>
          <a:lstStyle/>
          <a:p>
            <a:r>
              <a:rPr lang="zh-CN" altLang="en-US" dirty="0"/>
              <a:t>数列无界的充要条件是：存在</a:t>
            </a:r>
            <a:r>
              <a:rPr lang="en-US" altLang="zh-CN" dirty="0"/>
              <a:t>{</a:t>
            </a:r>
            <a:r>
              <a:rPr lang="en-US" altLang="zh-CN" dirty="0" err="1"/>
              <a:t>xn</a:t>
            </a:r>
            <a:r>
              <a:rPr lang="en-US" altLang="zh-CN" dirty="0"/>
              <a:t>}</a:t>
            </a:r>
            <a:r>
              <a:rPr lang="zh-CN" altLang="en-US" dirty="0"/>
              <a:t>的一个（无限）子列为无穷大量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BFE291-5822-DFCE-D433-EE4F2EB2D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0796"/>
            <a:ext cx="5622131" cy="24741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2DC64-97BF-72E3-2932-F757C6EA5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131" y="2500313"/>
            <a:ext cx="6650255" cy="22850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4EB1DE2-3A6E-FA4F-72E3-FE768DF6130A}"/>
              </a:ext>
            </a:extLst>
          </p:cNvPr>
          <p:cNvSpPr txBox="1"/>
          <p:nvPr/>
        </p:nvSpPr>
        <p:spPr>
          <a:xfrm>
            <a:off x="428624" y="5182474"/>
            <a:ext cx="127730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考虑 </a:t>
            </a:r>
            <a:r>
              <a:rPr lang="en-US" altLang="zh-CN" sz="3200" dirty="0" err="1"/>
              <a:t>xn</a:t>
            </a:r>
            <a:r>
              <a:rPr lang="en-US" altLang="zh-CN" sz="3200" dirty="0"/>
              <a:t>=sin(1/2*n*pai)*2^n    </a:t>
            </a:r>
            <a:r>
              <a:rPr lang="zh-CN" altLang="en-US" sz="3200" dirty="0"/>
              <a:t>无界但不是无穷大量</a:t>
            </a:r>
            <a:endParaRPr lang="en-US" altLang="zh-CN" sz="3200" dirty="0"/>
          </a:p>
          <a:p>
            <a:r>
              <a:rPr lang="zh-CN" altLang="en-US" sz="3200" dirty="0"/>
              <a:t>核心是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子列</a:t>
            </a:r>
            <a:r>
              <a:rPr lang="en-US" altLang="zh-CN" sz="32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，</a:t>
            </a:r>
            <a:r>
              <a:rPr lang="zh-CN" altLang="en-US" sz="3200" dirty="0">
                <a:solidFill>
                  <a:srgbClr val="FF0000"/>
                </a:solidFill>
              </a:rPr>
              <a:t>抛弃了不满足无穷大定义</a:t>
            </a:r>
            <a:r>
              <a:rPr lang="en-US" altLang="zh-CN" sz="3200" dirty="0">
                <a:solidFill>
                  <a:srgbClr val="FF0000"/>
                </a:solidFill>
              </a:rPr>
              <a:t>n&gt;N1</a:t>
            </a:r>
            <a:r>
              <a:rPr lang="zh-CN" altLang="en-US" sz="3200" dirty="0">
                <a:solidFill>
                  <a:srgbClr val="FF0000"/>
                </a:solidFill>
              </a:rPr>
              <a:t>时的值</a:t>
            </a:r>
          </a:p>
        </p:txBody>
      </p:sp>
    </p:spTree>
    <p:extLst>
      <p:ext uri="{BB962C8B-B14F-4D97-AF65-F5344CB8AC3E}">
        <p14:creationId xmlns:p14="http://schemas.microsoft.com/office/powerpoint/2010/main" val="1145509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1413F-443A-649A-6398-24A7C181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B4CF5DC-A02B-B5B1-2AB6-9DCBF933C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1" y="510266"/>
            <a:ext cx="11827036" cy="10352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61284F-6AA4-9E21-270B-CBB255591222}"/>
              </a:ext>
            </a:extLst>
          </p:cNvPr>
          <p:cNvSpPr txBox="1"/>
          <p:nvPr/>
        </p:nvSpPr>
        <p:spPr>
          <a:xfrm>
            <a:off x="464343" y="1835829"/>
            <a:ext cx="725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本质：归并性及其推论</a:t>
            </a:r>
            <a:r>
              <a:rPr lang="en-US" altLang="zh-CN" sz="2800" dirty="0"/>
              <a:t>+</a:t>
            </a:r>
            <a:r>
              <a:rPr lang="zh-CN" altLang="en-US" sz="2800" dirty="0"/>
              <a:t>逆否命题转化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C4C52C-5440-39E6-F8F8-A9F7FF59D465}"/>
              </a:ext>
            </a:extLst>
          </p:cNvPr>
          <p:cNvSpPr txBox="1"/>
          <p:nvPr/>
        </p:nvSpPr>
        <p:spPr>
          <a:xfrm>
            <a:off x="520303" y="2785800"/>
            <a:ext cx="11151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建议：别背结论，记住常见反例，核心：无界推不出无穷大，有界推不出收敛；关注存在，任意；选取“子列”的目的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50B031-0A84-B42D-1EAF-AB5C1B37B32D}"/>
              </a:ext>
            </a:extLst>
          </p:cNvPr>
          <p:cNvSpPr txBox="1"/>
          <p:nvPr/>
        </p:nvSpPr>
        <p:spPr>
          <a:xfrm>
            <a:off x="464343" y="3902944"/>
            <a:ext cx="107394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常见反例：震荡数列（</a:t>
            </a:r>
            <a:r>
              <a:rPr lang="en-US" altLang="zh-CN" sz="2800" dirty="0"/>
              <a:t>-1</a:t>
            </a:r>
            <a:r>
              <a:rPr lang="zh-CN" altLang="en-US" sz="2800" dirty="0"/>
              <a:t>）</a:t>
            </a:r>
            <a:r>
              <a:rPr lang="en-US" altLang="zh-CN" sz="2800" dirty="0"/>
              <a:t>^n,</a:t>
            </a:r>
            <a:r>
              <a:rPr lang="zh-CN" altLang="en-US" sz="2800" dirty="0"/>
              <a:t>三角函数数列，奇偶数列，</a:t>
            </a:r>
            <a:r>
              <a:rPr lang="en-US" altLang="zh-CN" sz="2800" dirty="0" err="1"/>
              <a:t>etc</a:t>
            </a:r>
            <a:r>
              <a:rPr lang="en-US" altLang="zh-CN" sz="2800" dirty="0"/>
              <a:t>…</a:t>
            </a:r>
          </a:p>
          <a:p>
            <a:r>
              <a:rPr lang="en-US" altLang="zh-CN" sz="2800" dirty="0"/>
              <a:t>		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14ABB5-6304-5815-B914-EE35CC70A2B9}"/>
              </a:ext>
            </a:extLst>
          </p:cNvPr>
          <p:cNvSpPr txBox="1"/>
          <p:nvPr/>
        </p:nvSpPr>
        <p:spPr>
          <a:xfrm>
            <a:off x="685800" y="5200650"/>
            <a:ext cx="7936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更多反例：让</a:t>
            </a:r>
            <a:r>
              <a:rPr lang="en-US" altLang="zh-CN" sz="2800" dirty="0"/>
              <a:t>ai</a:t>
            </a:r>
            <a:r>
              <a:rPr lang="zh-CN" altLang="en-US" sz="2800" dirty="0"/>
              <a:t>详细罗列一下，各取所需</a:t>
            </a:r>
          </a:p>
        </p:txBody>
      </p:sp>
    </p:spTree>
    <p:extLst>
      <p:ext uri="{BB962C8B-B14F-4D97-AF65-F5344CB8AC3E}">
        <p14:creationId xmlns:p14="http://schemas.microsoft.com/office/powerpoint/2010/main" val="910389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6680A-65D0-6B54-2790-3C5B5C46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数列极限的计算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C3A1F8-253F-F8C6-6D2D-113D1EA20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98525" cy="4351338"/>
          </a:xfrm>
        </p:spPr>
        <p:txBody>
          <a:bodyPr>
            <a:normAutofit fontScale="925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一定是有限项去做运算！！！（</a:t>
            </a:r>
            <a:r>
              <a:rPr lang="en-US" altLang="zh-CN" dirty="0">
                <a:solidFill>
                  <a:srgbClr val="FF0000"/>
                </a:solidFill>
              </a:rPr>
              <a:t>0*</a:t>
            </a:r>
            <a:r>
              <a:rPr lang="zh-CN" altLang="en-US" dirty="0">
                <a:solidFill>
                  <a:srgbClr val="FF0000"/>
                </a:solidFill>
              </a:rPr>
              <a:t>∞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不确定）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核心：尽量同除分母的最高次项</a:t>
            </a:r>
            <a:r>
              <a:rPr lang="en-US" altLang="zh-CN" dirty="0"/>
              <a:t>+</a:t>
            </a:r>
            <a:r>
              <a:rPr lang="zh-CN" altLang="en-US" dirty="0"/>
              <a:t>有理化（后续夹逼定理考虑放缩）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大多数数列计算性质符合四则运算性质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关注  </a:t>
            </a:r>
            <a:r>
              <a:rPr lang="en-US" altLang="zh-CN" dirty="0" err="1"/>
              <a:t>a^m-b^m</a:t>
            </a:r>
            <a:r>
              <a:rPr lang="en-US" altLang="zh-CN" dirty="0"/>
              <a:t>  </a:t>
            </a:r>
            <a:r>
              <a:rPr lang="zh-CN" altLang="en-US" dirty="0"/>
              <a:t>分解公式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以后只要不说用数学语言算数列极限，就不用写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ε-δ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语言了，但是考试必考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2389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4B79B-F74C-D9EA-D7B0-F68E6727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3706"/>
            <a:ext cx="10515600" cy="1325563"/>
          </a:xfrm>
        </p:spPr>
        <p:txBody>
          <a:bodyPr/>
          <a:lstStyle/>
          <a:p>
            <a:r>
              <a:rPr lang="en-US" altLang="zh-CN" dirty="0"/>
              <a:t>Thinking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117EF0-3028-6D15-D151-DFBE8C8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849" y="876720"/>
            <a:ext cx="10515600" cy="4351338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用</a:t>
            </a:r>
            <a:r>
              <a:rPr lang="en-US" altLang="zh-CN" dirty="0"/>
              <a:t>ε</a:t>
            </a:r>
            <a:r>
              <a:rPr lang="zh-CN" altLang="en-US" dirty="0"/>
              <a:t>语言证明，当</a:t>
            </a:r>
            <a:r>
              <a:rPr lang="en-US" altLang="zh-CN" dirty="0"/>
              <a:t>n</a:t>
            </a:r>
            <a:r>
              <a:rPr lang="zh-CN" altLang="en-US" dirty="0"/>
              <a:t>趋近于∞时，</a:t>
            </a:r>
            <a:r>
              <a:rPr lang="en-US" altLang="zh-CN" dirty="0"/>
              <a:t>sin(n)</a:t>
            </a:r>
            <a:r>
              <a:rPr lang="zh-CN" altLang="en-US" dirty="0"/>
              <a:t>不存在极限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zh-CN" dirty="0"/>
              <a:t>数列趋于</a:t>
            </a:r>
            <a:r>
              <a:rPr lang="en-US" altLang="zh-CN" dirty="0"/>
              <a:t>0</a:t>
            </a:r>
            <a:r>
              <a:rPr lang="zh-CN" altLang="zh-CN" dirty="0"/>
              <a:t>，倒数一定趋于</a:t>
            </a:r>
            <a:r>
              <a:rPr lang="zh-CN" altLang="en-US" dirty="0"/>
              <a:t>正无穷</a:t>
            </a:r>
            <a:r>
              <a:rPr lang="en-US" altLang="zh-CN" dirty="0"/>
              <a:t>/</a:t>
            </a:r>
            <a:r>
              <a:rPr lang="zh-CN" altLang="en-US" dirty="0"/>
              <a:t>负无穷吗？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5983D5-A1EA-5500-08CB-3C103E248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0805"/>
            <a:ext cx="5923994" cy="28285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5B16C0-0472-240B-1954-81BA9F6EC1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994" y="2846718"/>
            <a:ext cx="6537029" cy="206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83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9117-131D-5576-1844-6098BF54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FBE9A-9368-7276-5FE4-0B7583423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27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7200" dirty="0" err="1"/>
              <a:t>That’all</a:t>
            </a:r>
            <a:r>
              <a:rPr lang="en-US" altLang="zh-CN" sz="7200" dirty="0"/>
              <a:t> ,thanks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2384893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23C2-90A5-57EB-8B03-13B0ABF7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C3E36-4340-1D49-210C-BB1103478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878" y="-45493"/>
            <a:ext cx="9144000" cy="2387600"/>
          </a:xfrm>
        </p:spPr>
        <p:txBody>
          <a:bodyPr/>
          <a:lstStyle/>
          <a:p>
            <a:r>
              <a:rPr lang="zh-CN" altLang="en-US" dirty="0"/>
              <a:t>高数</a:t>
            </a:r>
            <a:r>
              <a:rPr lang="en-US" altLang="zh-CN" dirty="0"/>
              <a:t>Ⅰ</a:t>
            </a:r>
            <a:r>
              <a:rPr lang="zh-CN" altLang="en-US" dirty="0"/>
              <a:t>习题课</a:t>
            </a:r>
            <a:br>
              <a:rPr lang="en-US" altLang="zh-CN" dirty="0"/>
            </a:br>
            <a:r>
              <a:rPr lang="en-US" altLang="zh-CN" sz="4000" dirty="0"/>
              <a:t>Week3</a:t>
            </a:r>
            <a:endParaRPr lang="zh-CN" altLang="en-US" sz="4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E0041C-4457-4B30-4D6D-111E3C13F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971" y="2932386"/>
            <a:ext cx="4350029" cy="35654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8DA9B0E-0458-F32A-2406-80694659C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775" y="2608083"/>
            <a:ext cx="1771855" cy="2472394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C8F2E22B-5EDC-DD67-6B03-33EB3EDBB3BE}"/>
              </a:ext>
            </a:extLst>
          </p:cNvPr>
          <p:cNvSpPr/>
          <p:nvPr/>
        </p:nvSpPr>
        <p:spPr>
          <a:xfrm rot="10525117">
            <a:off x="5629308" y="3516817"/>
            <a:ext cx="2208425" cy="239647"/>
          </a:xfrm>
          <a:prstGeom prst="rightArrow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839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B59BE6-C9E1-2F2E-02BE-CA8B30A7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70" y="53024"/>
            <a:ext cx="10515600" cy="1325563"/>
          </a:xfrm>
        </p:spPr>
        <p:txBody>
          <a:bodyPr/>
          <a:lstStyle/>
          <a:p>
            <a:r>
              <a:rPr lang="zh-CN" altLang="en-US" dirty="0"/>
              <a:t>夹逼定理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3BCCFA3-BB62-978B-07B3-571FF6730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0" y="1250769"/>
            <a:ext cx="10515600" cy="217823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072FC9F-CA45-A90A-2C0F-05707ACE04B9}"/>
              </a:ext>
            </a:extLst>
          </p:cNvPr>
          <p:cNvSpPr txBox="1"/>
          <p:nvPr/>
        </p:nvSpPr>
        <p:spPr>
          <a:xfrm>
            <a:off x="323051" y="3817479"/>
            <a:ext cx="11622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通常用函数增长快慢的性质</a:t>
            </a:r>
            <a:r>
              <a:rPr lang="zh-CN" altLang="en-US" sz="2800" dirty="0">
                <a:solidFill>
                  <a:srgbClr val="FF0000"/>
                </a:solidFill>
              </a:rPr>
              <a:t>放缩</a:t>
            </a:r>
            <a:r>
              <a:rPr lang="zh-CN" altLang="en-US" sz="2800" dirty="0"/>
              <a:t>，例如 </a:t>
            </a:r>
            <a:r>
              <a:rPr lang="en-US" altLang="zh-CN" sz="2800" dirty="0"/>
              <a:t>n!&lt; </a:t>
            </a:r>
            <a:r>
              <a:rPr lang="en-US" altLang="zh-CN" sz="2800" dirty="0" err="1"/>
              <a:t>n^n</a:t>
            </a:r>
            <a:r>
              <a:rPr lang="en-US" altLang="zh-CN" sz="2800" dirty="0"/>
              <a:t>, </a:t>
            </a:r>
            <a:r>
              <a:rPr lang="zh-CN" altLang="en-US" sz="2800" dirty="0"/>
              <a:t>抛弃低（高）次项 ，</a:t>
            </a:r>
            <a:r>
              <a:rPr lang="en-US" altLang="zh-CN" sz="2800" dirty="0" err="1"/>
              <a:t>etc</a:t>
            </a:r>
            <a:r>
              <a:rPr lang="en-US" altLang="zh-CN" sz="2800" dirty="0"/>
              <a:t>…</a:t>
            </a:r>
            <a:endParaRPr lang="zh-CN" altLang="en-US" sz="28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6BBD78-A9DF-026E-5F5E-ADDCB7F30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65" y="4729179"/>
            <a:ext cx="5094506" cy="122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63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DD3F8-C6DB-86A8-EDEA-EE832A0C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单调有界数列极限存在定理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CB1AA2-6526-B3E2-7246-489A71BC4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收敛到上确界，但是只要有上界极限就必定存在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重要极限：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以及他的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各种变体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但是不要乱变！！！自己一定要想清楚各种倒数，相反数关系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en-US" altLang="zh-CN" dirty="0"/>
                  <a:t>Tips</a:t>
                </a:r>
                <a:r>
                  <a:rPr lang="zh-CN" altLang="en-US" dirty="0"/>
                  <a:t>：尽量按照分母上的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的形式去反凑指数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计算：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func>
                  </m:oMath>
                </a14:m>
                <a:r>
                  <a:rPr lang="zh-CN" altLang="en-US" dirty="0"/>
                  <a:t>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CB1AA2-6526-B3E2-7246-489A71BC4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EF0BDA02-5A55-4A18-844B-BF8C9E62F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596" y="290232"/>
            <a:ext cx="3035542" cy="280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00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59341-1B71-F0AC-7C79-4B010969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递归数列极限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EDF43-E10C-E2BC-6904-A0FC034E4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426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首先证明该递归数列有极限（怎么证明</a:t>
            </a:r>
            <a:r>
              <a:rPr lang="en-US" altLang="zh-CN" dirty="0"/>
              <a:t>----</a:t>
            </a:r>
            <a:r>
              <a:rPr lang="zh-CN" altLang="en-US" dirty="0"/>
              <a:t>分别证明单调，有界）</a:t>
            </a:r>
            <a:endParaRPr lang="en-US" altLang="zh-CN" dirty="0"/>
          </a:p>
          <a:p>
            <a:r>
              <a:rPr lang="en-US" altLang="zh-CN" dirty="0"/>
              <a:t>2.limx(n)=</a:t>
            </a:r>
            <a:r>
              <a:rPr lang="en-US" altLang="zh-CN" dirty="0" err="1"/>
              <a:t>limx</a:t>
            </a:r>
            <a:r>
              <a:rPr lang="en-US" altLang="zh-CN" dirty="0"/>
              <a:t>(n+1)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代入计算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区间套定理</a:t>
            </a:r>
            <a:r>
              <a:rPr lang="en-US" altLang="zh-CN" dirty="0"/>
              <a:t>:</a:t>
            </a:r>
            <a:r>
              <a:rPr lang="zh-CN" altLang="en-US" dirty="0"/>
              <a:t>体现实数的完备性，详见</a:t>
            </a:r>
            <a:r>
              <a:rPr lang="zh-CN" altLang="zh-CN" dirty="0">
                <a:hlinkClick r:id="rId2"/>
              </a:rPr>
              <a:t>实数的完备性定理 - 知乎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FA242D-2307-507C-9F4B-249604EF6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306" y="4238859"/>
            <a:ext cx="7093331" cy="225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3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3B1B5-744B-4DF7-D386-1B76563C9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30" y="135087"/>
            <a:ext cx="10515600" cy="1325563"/>
          </a:xfrm>
        </p:spPr>
        <p:txBody>
          <a:bodyPr/>
          <a:lstStyle/>
          <a:p>
            <a:r>
              <a:rPr lang="zh-CN" altLang="en-US" dirty="0"/>
              <a:t>注意：数列极限都针对的是</a:t>
            </a:r>
            <a:r>
              <a:rPr lang="en-US" altLang="zh-CN" dirty="0"/>
              <a:t>n</a:t>
            </a:r>
            <a:r>
              <a:rPr lang="zh-CN" altLang="en-US" dirty="0"/>
              <a:t>趋近于无穷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9BFBC2-743A-5973-82E7-48D042560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351" y="1561082"/>
            <a:ext cx="12233694" cy="4351338"/>
          </a:xfrm>
        </p:spPr>
        <p:txBody>
          <a:bodyPr/>
          <a:lstStyle/>
          <a:p>
            <a:r>
              <a:rPr lang="zh-CN" altLang="en-US" dirty="0"/>
              <a:t>如果</a:t>
            </a:r>
            <a:r>
              <a:rPr lang="en-US" altLang="zh-CN" dirty="0"/>
              <a:t>n</a:t>
            </a:r>
            <a:r>
              <a:rPr lang="zh-CN" altLang="en-US" dirty="0"/>
              <a:t>趋近于一个常数呢？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B4C0952-062A-17E2-2A8F-5F1C60893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51" y="2666419"/>
            <a:ext cx="11362426" cy="35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866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0FBC1-44FF-52AA-DFF6-E97B9753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函数的极限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9470435-A4A3-398E-C495-2AD974868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767" y="1393063"/>
            <a:ext cx="9349737" cy="435133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1CE5A2-09D5-9557-FA4B-C1E2CE2ADB97}"/>
              </a:ext>
            </a:extLst>
          </p:cNvPr>
          <p:cNvSpPr/>
          <p:nvPr/>
        </p:nvSpPr>
        <p:spPr>
          <a:xfrm>
            <a:off x="1062237" y="4509360"/>
            <a:ext cx="9050917" cy="1235041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BD7648-4166-7162-4EA9-C5DEBF303451}"/>
              </a:ext>
            </a:extLst>
          </p:cNvPr>
          <p:cNvSpPr txBox="1"/>
          <p:nvPr/>
        </p:nvSpPr>
        <p:spPr>
          <a:xfrm>
            <a:off x="1342145" y="6083224"/>
            <a:ext cx="895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与数列类似：函数在邻域无界不能推出极限为无穷（本质：震荡发散的函数）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509DAE-40FE-D985-6CCC-D2EB99E2FE91}"/>
              </a:ext>
            </a:extLst>
          </p:cNvPr>
          <p:cNvSpPr txBox="1"/>
          <p:nvPr/>
        </p:nvSpPr>
        <p:spPr>
          <a:xfrm>
            <a:off x="7512315" y="3425291"/>
            <a:ext cx="2436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注意：一定要左右极限相等！！！</a:t>
            </a:r>
            <a:r>
              <a:rPr lang="zh-CN" altLang="en-US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909287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51449-003E-9B92-3C4D-37F6B32D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数学语言证明函数的极限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ABA15F-3192-24AD-16F0-AF70492BB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Tips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 写出</a:t>
            </a:r>
            <a:r>
              <a:rPr lang="en-US" altLang="zh-CN" dirty="0"/>
              <a:t>abs(</a:t>
            </a:r>
            <a:r>
              <a:rPr lang="zh-CN" altLang="en-US" dirty="0"/>
              <a:t>函数</a:t>
            </a:r>
            <a:r>
              <a:rPr lang="en-US" altLang="zh-CN" dirty="0"/>
              <a:t>-</a:t>
            </a:r>
            <a:r>
              <a:rPr lang="zh-CN" altLang="en-US" dirty="0"/>
              <a:t>极限值</a:t>
            </a:r>
            <a:r>
              <a:rPr lang="en-US" altLang="zh-CN" dirty="0"/>
              <a:t>)&lt;ε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想办法拆分出</a:t>
            </a:r>
            <a:r>
              <a:rPr lang="en-US" altLang="zh-CN" dirty="0"/>
              <a:t>abs(x-a)</a:t>
            </a:r>
            <a:r>
              <a:rPr lang="zh-CN" altLang="en-US" dirty="0"/>
              <a:t>这个项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放缩解关于</a:t>
            </a:r>
            <a:r>
              <a:rPr lang="en-US" altLang="zh-CN" dirty="0"/>
              <a:t>δ</a:t>
            </a:r>
            <a:r>
              <a:rPr lang="zh-CN" altLang="en-US" dirty="0"/>
              <a:t>的不等式（解不等式技巧参考数列极限）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4.</a:t>
            </a:r>
            <a:r>
              <a:rPr lang="zh-CN" altLang="en-US" dirty="0">
                <a:solidFill>
                  <a:srgbClr val="FF0000"/>
                </a:solidFill>
              </a:rPr>
              <a:t>放缩过程如果要对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>
                <a:solidFill>
                  <a:srgbClr val="FF0000"/>
                </a:solidFill>
              </a:rPr>
              <a:t>的取值进行限制，意味着</a:t>
            </a:r>
            <a:r>
              <a:rPr lang="en-US" altLang="zh-CN" dirty="0">
                <a:solidFill>
                  <a:srgbClr val="FF0000"/>
                </a:solidFill>
              </a:rPr>
              <a:t>δ</a:t>
            </a:r>
            <a:r>
              <a:rPr lang="zh-CN" altLang="en-US" dirty="0">
                <a:solidFill>
                  <a:srgbClr val="FF0000"/>
                </a:solidFill>
              </a:rPr>
              <a:t>受到一定约束，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δ=min{</a:t>
            </a:r>
            <a:r>
              <a:rPr lang="zh-CN" altLang="en-US" dirty="0">
                <a:solidFill>
                  <a:srgbClr val="FF0000"/>
                </a:solidFill>
              </a:rPr>
              <a:t>放缩限制，不等式的解</a:t>
            </a:r>
            <a:r>
              <a:rPr lang="en-US" altLang="zh-CN" dirty="0">
                <a:solidFill>
                  <a:srgbClr val="FF0000"/>
                </a:solidFill>
              </a:rPr>
              <a:t>}   </a:t>
            </a:r>
            <a:r>
              <a:rPr lang="zh-CN" altLang="en-US" dirty="0">
                <a:solidFill>
                  <a:srgbClr val="FF0000"/>
                </a:solidFill>
              </a:rPr>
              <a:t>（见例</a:t>
            </a:r>
            <a:r>
              <a:rPr lang="en-US" altLang="zh-CN" dirty="0">
                <a:solidFill>
                  <a:srgbClr val="FF0000"/>
                </a:solidFill>
              </a:rPr>
              <a:t>2.27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040777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08F23-6E3F-B95F-BB69-5DF2F2AB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函数的单侧极限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C1B5B68-E8A0-D6CA-F1B3-2A5E3BA9F0D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趋近于</a:t>
            </a:r>
            <a:r>
              <a:rPr lang="en-US" altLang="zh-CN" dirty="0">
                <a:solidFill>
                  <a:srgbClr val="FF0000"/>
                </a:solidFill>
              </a:rPr>
              <a:t>a+</a:t>
            </a:r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a-</a:t>
            </a:r>
            <a:r>
              <a:rPr lang="zh-CN" altLang="en-US" dirty="0">
                <a:solidFill>
                  <a:srgbClr val="FF0000"/>
                </a:solidFill>
              </a:rPr>
              <a:t>得到的结果可能会不一样，考虑</a:t>
            </a:r>
            <a:r>
              <a:rPr lang="en-US" altLang="zh-CN" dirty="0">
                <a:solidFill>
                  <a:srgbClr val="FF0000"/>
                </a:solidFill>
              </a:rPr>
              <a:t>1/x</a:t>
            </a:r>
            <a:r>
              <a:rPr lang="zh-CN" altLang="en-US" dirty="0">
                <a:solidFill>
                  <a:srgbClr val="FF0000"/>
                </a:solidFill>
              </a:rPr>
              <a:t>趋近于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的情况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0BC07AB-4FEE-AC35-C432-F02FE0980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25" y="2502664"/>
            <a:ext cx="10970975" cy="249132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662A378-E083-B8EB-929E-209444B2B927}"/>
              </a:ext>
            </a:extLst>
          </p:cNvPr>
          <p:cNvSpPr txBox="1"/>
          <p:nvPr/>
        </p:nvSpPr>
        <p:spPr>
          <a:xfrm>
            <a:off x="4404086" y="5257930"/>
            <a:ext cx="3383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通常用前一种书写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4881EC-C0DA-276C-1AE3-0FDEC13ACED7}"/>
              </a:ext>
            </a:extLst>
          </p:cNvPr>
          <p:cNvSpPr txBox="1"/>
          <p:nvPr/>
        </p:nvSpPr>
        <p:spPr>
          <a:xfrm>
            <a:off x="382825" y="6009991"/>
            <a:ext cx="11841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函数在无穷远处的极限同理易得，关注数学语言的书写与翻译</a:t>
            </a:r>
          </a:p>
        </p:txBody>
      </p:sp>
    </p:spTree>
    <p:extLst>
      <p:ext uri="{BB962C8B-B14F-4D97-AF65-F5344CB8AC3E}">
        <p14:creationId xmlns:p14="http://schemas.microsoft.com/office/powerpoint/2010/main" val="39279469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4D586-2EEF-5560-7C0C-881B56A9E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Heine</a:t>
            </a:r>
            <a:r>
              <a:rPr lang="zh-CN" altLang="en-US" dirty="0"/>
              <a:t>定理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E63D067-DC29-6CF0-7E2A-E80E84B22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50" y="1681229"/>
            <a:ext cx="10515600" cy="174777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52B163-39E1-1C3E-0BE7-92AC586D7B3D}"/>
              </a:ext>
            </a:extLst>
          </p:cNvPr>
          <p:cNvSpPr txBox="1"/>
          <p:nvPr/>
        </p:nvSpPr>
        <p:spPr>
          <a:xfrm>
            <a:off x="537050" y="3756158"/>
            <a:ext cx="117375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横跨数列与函数极限的桥梁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用途：判定函数极限不存在（只要存在一个数列不满足就可以），判断函数是否为无穷大，</a:t>
            </a:r>
            <a:r>
              <a:rPr lang="zh-CN" altLang="en-US" sz="3200" dirty="0">
                <a:solidFill>
                  <a:srgbClr val="FF0000"/>
                </a:solidFill>
              </a:rPr>
              <a:t>总而言之：用来找反例</a:t>
            </a:r>
          </a:p>
        </p:txBody>
      </p:sp>
    </p:spTree>
    <p:extLst>
      <p:ext uri="{BB962C8B-B14F-4D97-AF65-F5344CB8AC3E}">
        <p14:creationId xmlns:p14="http://schemas.microsoft.com/office/powerpoint/2010/main" val="2011142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80106-5861-4B52-9954-36330655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Heine</a:t>
            </a:r>
            <a:r>
              <a:rPr lang="zh-CN" altLang="en-US" dirty="0"/>
              <a:t>定理的应用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37EC71-74F4-45DB-9AB2-7B85D03DB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6" y="1638589"/>
            <a:ext cx="12039601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命题：只要找到一列 </a:t>
            </a:r>
            <a:r>
              <a:rPr lang="en-US" altLang="zh-CN" dirty="0"/>
              <a:t>xₙ → x₀</a:t>
            </a:r>
            <a:r>
              <a:rPr lang="zh-CN" altLang="en-US" dirty="0"/>
              <a:t>，使 </a:t>
            </a:r>
            <a:r>
              <a:rPr lang="en-US" altLang="zh-CN" dirty="0"/>
              <a:t>f(xₙ) → A</a:t>
            </a:r>
            <a:r>
              <a:rPr lang="zh-CN" altLang="en-US" dirty="0"/>
              <a:t>，就能说明 </a:t>
            </a:r>
            <a:r>
              <a:rPr lang="en-US" altLang="zh-CN" dirty="0" err="1"/>
              <a:t>lim</a:t>
            </a:r>
            <a:r>
              <a:rPr lang="en-US" altLang="zh-CN" dirty="0"/>
              <a:t>₍ₓ→ₓ₀₎ f(x) = A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反例：</a:t>
            </a:r>
            <a:r>
              <a:rPr lang="en-US" altLang="zh-CN" dirty="0"/>
              <a:t>f(x) = sin(1/x)</a:t>
            </a:r>
            <a:r>
              <a:rPr lang="zh-CN" altLang="en-US" dirty="0"/>
              <a:t>，</a:t>
            </a:r>
            <a:r>
              <a:rPr lang="en-US" altLang="zh-CN" dirty="0"/>
              <a:t>x ≠ 0</a:t>
            </a:r>
            <a:r>
              <a:rPr lang="zh-CN" altLang="en-US" dirty="0"/>
              <a:t>，取</a:t>
            </a:r>
            <a:r>
              <a:rPr lang="el-GR" altLang="zh-CN" dirty="0"/>
              <a:t>xₙ = 1 ÷ (π/2 + 2nπ)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命题：只要找到一列 </a:t>
            </a:r>
            <a:r>
              <a:rPr lang="en-US" altLang="zh-CN" dirty="0"/>
              <a:t>xₙ → x₀</a:t>
            </a:r>
            <a:r>
              <a:rPr lang="zh-CN" altLang="en-US" dirty="0"/>
              <a:t>，使 </a:t>
            </a:r>
            <a:r>
              <a:rPr lang="en-US" altLang="zh-CN" dirty="0"/>
              <a:t>f(xₙ) → +∞</a:t>
            </a:r>
            <a:r>
              <a:rPr lang="zh-CN" altLang="en-US" dirty="0"/>
              <a:t>，就能说明 </a:t>
            </a:r>
            <a:r>
              <a:rPr lang="en-US" altLang="zh-CN" dirty="0" err="1"/>
              <a:t>lim</a:t>
            </a:r>
            <a:r>
              <a:rPr lang="en-US" altLang="zh-CN" dirty="0"/>
              <a:t>₍ₓ→ₓ₀₎ f(x) = +∞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反例：</a:t>
            </a:r>
            <a:r>
              <a:rPr lang="fr-FR" altLang="zh-CN" dirty="0"/>
              <a:t>f(x) = 1/x</a:t>
            </a:r>
            <a:r>
              <a:rPr lang="zh-CN" altLang="fr-FR" dirty="0"/>
              <a:t>，</a:t>
            </a:r>
            <a:r>
              <a:rPr lang="fr-FR" altLang="zh-CN" dirty="0"/>
              <a:t>x ≠ 0</a:t>
            </a:r>
            <a:r>
              <a:rPr lang="zh-CN" altLang="en-US" dirty="0"/>
              <a:t>，取</a:t>
            </a:r>
            <a:r>
              <a:rPr lang="en-US" altLang="zh-CN" dirty="0"/>
              <a:t>xₙ = 1/n</a:t>
            </a:r>
            <a:r>
              <a:rPr lang="zh-CN" altLang="en-US" dirty="0"/>
              <a:t>，</a:t>
            </a:r>
            <a:r>
              <a:rPr lang="en-US" altLang="zh-CN" dirty="0"/>
              <a:t>yₙ = −1/n</a:t>
            </a:r>
          </a:p>
          <a:p>
            <a:endParaRPr lang="en-US" altLang="zh-CN" dirty="0"/>
          </a:p>
          <a:p>
            <a:r>
              <a:rPr lang="zh-CN" altLang="en-US" dirty="0"/>
              <a:t>更多例子：问</a:t>
            </a:r>
            <a:r>
              <a:rPr lang="en-US" altLang="zh-CN" dirty="0"/>
              <a:t>ai</a:t>
            </a:r>
            <a:r>
              <a:rPr lang="zh-CN" altLang="en-US" dirty="0"/>
              <a:t>，核心：</a:t>
            </a:r>
            <a:r>
              <a:rPr lang="zh-CN" altLang="en-US" dirty="0">
                <a:solidFill>
                  <a:srgbClr val="FF0000"/>
                </a:solidFill>
              </a:rPr>
              <a:t>任意</a:t>
            </a:r>
            <a:r>
              <a:rPr lang="zh-CN" altLang="en-US" dirty="0"/>
              <a:t>数列都要满足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/>
              <a:t>常见反例：震荡数列（</a:t>
            </a:r>
            <a:r>
              <a:rPr lang="en-US" altLang="zh-CN" sz="2800" dirty="0"/>
              <a:t>-1</a:t>
            </a:r>
            <a:r>
              <a:rPr lang="zh-CN" altLang="en-US" sz="2800" dirty="0"/>
              <a:t>）</a:t>
            </a:r>
            <a:r>
              <a:rPr lang="en-US" altLang="zh-CN" sz="2800" dirty="0"/>
              <a:t>^n,</a:t>
            </a:r>
            <a:r>
              <a:rPr lang="zh-CN" altLang="en-US" sz="2800" dirty="0"/>
              <a:t>三角函数数列，奇偶数列，</a:t>
            </a:r>
            <a:r>
              <a:rPr lang="en-US" altLang="zh-CN" sz="2800" dirty="0" err="1"/>
              <a:t>etc</a:t>
            </a:r>
            <a:r>
              <a:rPr lang="en-US" altLang="zh-CN" sz="2800" dirty="0"/>
              <a:t>…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1723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E4AD8-2A63-F9DC-7577-03403A45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0E1B2B-BBFA-FCD5-F292-4074B1D45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迪利克雷函数在</a:t>
            </a:r>
            <a:r>
              <a:rPr lang="en-US" altLang="zh-CN" dirty="0"/>
              <a:t>x</a:t>
            </a:r>
            <a:r>
              <a:rPr lang="zh-CN" altLang="en-US" dirty="0"/>
              <a:t>趋近于</a:t>
            </a:r>
            <a:r>
              <a:rPr lang="en-US" altLang="zh-CN" dirty="0"/>
              <a:t>0</a:t>
            </a:r>
            <a:r>
              <a:rPr lang="zh-CN" altLang="en-US" dirty="0"/>
              <a:t>的时候是否存在极限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C88004-B58A-F198-E7C5-C28F480A7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445" y="2399653"/>
            <a:ext cx="5876068" cy="438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002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8EA9D-0CFF-172E-BB5F-E2E88F4E0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函数极限的性质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0484A-12E3-E627-F272-D4EF5650E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唯一性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局部有界性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局部保序性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为什么是局部？</a:t>
            </a:r>
            <a:endParaRPr lang="en-US" altLang="zh-CN" dirty="0"/>
          </a:p>
          <a:p>
            <a:r>
              <a:rPr lang="zh-CN" altLang="en-US" dirty="0"/>
              <a:t>本质：函数极限只对于</a:t>
            </a:r>
            <a:r>
              <a:rPr lang="en-US" altLang="zh-CN" dirty="0"/>
              <a:t>x=a</a:t>
            </a:r>
            <a:r>
              <a:rPr lang="zh-CN" altLang="en-US" dirty="0"/>
              <a:t>的邻域而非数列中</a:t>
            </a:r>
            <a:r>
              <a:rPr lang="en-US" altLang="zh-CN" dirty="0"/>
              <a:t>n&gt;N1</a:t>
            </a:r>
            <a:r>
              <a:rPr lang="zh-CN" altLang="en-US" dirty="0"/>
              <a:t>时都满足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四则运算：参考数列极限的四则运算</a:t>
            </a:r>
          </a:p>
        </p:txBody>
      </p:sp>
    </p:spTree>
    <p:extLst>
      <p:ext uri="{BB962C8B-B14F-4D97-AF65-F5344CB8AC3E}">
        <p14:creationId xmlns:p14="http://schemas.microsoft.com/office/powerpoint/2010/main" val="1043111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152AA-BFD0-F2AB-0618-A24D0705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复合函数极限运算定理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4A5290-B9F0-1D9D-7572-EE1C45448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1" y="1638484"/>
            <a:ext cx="10515600" cy="136369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31B5F75-8FF0-1F09-5CF8-0C08F1271C44}"/>
              </a:ext>
            </a:extLst>
          </p:cNvPr>
          <p:cNvSpPr txBox="1"/>
          <p:nvPr/>
        </p:nvSpPr>
        <p:spPr>
          <a:xfrm>
            <a:off x="673480" y="3429000"/>
            <a:ext cx="1072640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注意：</a:t>
            </a:r>
            <a:endParaRPr lang="en-US" altLang="zh-CN" sz="3200" dirty="0"/>
          </a:p>
          <a:p>
            <a:r>
              <a:rPr lang="en-US" altLang="zh-CN" sz="3200" dirty="0"/>
              <a:t>1.</a:t>
            </a:r>
            <a:r>
              <a:rPr lang="zh-CN" altLang="en-US" sz="3200" dirty="0"/>
              <a:t>复合函数内层函数</a:t>
            </a:r>
            <a:r>
              <a:rPr lang="zh-CN" altLang="en-US" sz="3200" dirty="0">
                <a:solidFill>
                  <a:srgbClr val="FF0000"/>
                </a:solidFill>
              </a:rPr>
              <a:t>左右极限要存在且相等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/>
              <a:t>2.</a:t>
            </a:r>
            <a:r>
              <a:rPr lang="zh-CN" altLang="en-US" sz="3200" dirty="0"/>
              <a:t>内层函数在邻域内的极限值不能等于</a:t>
            </a:r>
            <a:r>
              <a:rPr lang="en-US" altLang="zh-CN" sz="3200" dirty="0"/>
              <a:t>b</a:t>
            </a:r>
            <a:r>
              <a:rPr lang="zh-CN" altLang="en-US" sz="3200" dirty="0"/>
              <a:t>（否则外层函数极限没有定义，极限的本质是趋近）</a:t>
            </a:r>
          </a:p>
        </p:txBody>
      </p:sp>
    </p:spTree>
    <p:extLst>
      <p:ext uri="{BB962C8B-B14F-4D97-AF65-F5344CB8AC3E}">
        <p14:creationId xmlns:p14="http://schemas.microsoft.com/office/powerpoint/2010/main" val="11208025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72F46-8F5B-5351-C1A2-A22EF8E9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函数极限运算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16D066-2A11-E834-3A74-F7F21DADB9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/>
                  <a:t>夹逼定理，单调有界函数单侧极限存在定理，参考数列类似</a:t>
                </a:r>
                <a:endParaRPr lang="en-US" altLang="zh-CN" dirty="0"/>
              </a:p>
              <a:p>
                <a:r>
                  <a:rPr lang="en-US" altLang="zh-CN" dirty="0"/>
                  <a:t>How to prove---</a:t>
                </a:r>
                <a:r>
                  <a:rPr lang="zh-CN" altLang="en-US" dirty="0"/>
                  <a:t>用海涅定理作为桥梁（大概率不会考证明）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极限四则运算当且仅当这些函数都有极限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zh-CN" altLang="en-US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zh-CN" alt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dirty="0"/>
                  <a:t>及其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变体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endParaRPr lang="en-US" altLang="zh-CN" dirty="0"/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优先根据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sinx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的结构去凑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，优先根据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1/x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的结构凑次数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初期请按步骤严格推导，不要易得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16D066-2A11-E834-3A74-F7F21DADB9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109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B78B9-B1F1-F994-9F0F-B84B4B2B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Thinking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A0934BF-E225-EFC5-66D2-0A7EE6418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31" y="1475353"/>
            <a:ext cx="9253052" cy="23446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CEE51C3-F008-B23A-B219-197DC742A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21" y="4115046"/>
            <a:ext cx="6667272" cy="2535201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E316F0B-7D10-32C1-CF68-45CE6A2618F0}"/>
              </a:ext>
            </a:extLst>
          </p:cNvPr>
          <p:cNvCxnSpPr/>
          <p:nvPr/>
        </p:nvCxnSpPr>
        <p:spPr>
          <a:xfrm>
            <a:off x="2086146" y="4796493"/>
            <a:ext cx="414491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6133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94267-A415-416E-8443-5EC91603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547D43-B906-461E-A899-561C3103B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64" y="1843554"/>
            <a:ext cx="11183471" cy="4351338"/>
          </a:xfrm>
        </p:spPr>
        <p:txBody>
          <a:bodyPr/>
          <a:lstStyle/>
          <a:p>
            <a:r>
              <a:rPr lang="zh-CN" altLang="en-US" dirty="0"/>
              <a:t>上次没拿的作业在左侧，本次作业交右侧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之前作业有不确定的题目及时找我要参考答案（作业批的快有可能漏）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下周四习题课时间</a:t>
            </a:r>
            <a:r>
              <a:rPr lang="en-US" altLang="zh-CN" dirty="0"/>
              <a:t>quiz</a:t>
            </a:r>
          </a:p>
          <a:p>
            <a:endParaRPr lang="en-US" altLang="zh-CN" dirty="0"/>
          </a:p>
          <a:p>
            <a:r>
              <a:rPr lang="en-US" altLang="zh-CN" dirty="0"/>
              <a:t>Q&amp;A  </a:t>
            </a:r>
            <a:r>
              <a:rPr lang="zh-CN" altLang="en-US" dirty="0"/>
              <a:t> </a:t>
            </a:r>
            <a:r>
              <a:rPr lang="en-US" altLang="zh-CN" dirty="0"/>
              <a:t>contact  </a:t>
            </a:r>
            <a:r>
              <a:rPr lang="en-US" altLang="zh-CN" dirty="0">
                <a:hlinkClick r:id="rId2"/>
              </a:rPr>
              <a:t>sunwei@shanghaitech.edu.cn</a:t>
            </a:r>
            <a:r>
              <a:rPr lang="en-US" altLang="zh-CN" dirty="0"/>
              <a:t>  or me for office hour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31275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71667-8A8E-425E-99D3-9B8BB923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无穷小的比较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FE5CC5-5DE4-42D6-8A81-719FACD50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本质：变化</a:t>
            </a:r>
            <a:r>
              <a:rPr lang="zh-CN" altLang="en-US" dirty="0">
                <a:solidFill>
                  <a:srgbClr val="FF0000"/>
                </a:solidFill>
              </a:rPr>
              <a:t>速度</a:t>
            </a:r>
            <a:r>
              <a:rPr lang="zh-CN" altLang="en-US" dirty="0"/>
              <a:t>比较（趋于</a:t>
            </a:r>
            <a:r>
              <a:rPr lang="en-US" altLang="zh-CN" dirty="0"/>
              <a:t>0/</a:t>
            </a:r>
            <a:r>
              <a:rPr lang="zh-CN" altLang="en-US" dirty="0"/>
              <a:t>∞速度的比较）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563675-52E1-493F-91AD-33CF76222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31" y="2433423"/>
            <a:ext cx="11809938" cy="8236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9095AC-3C9C-42FA-85FE-CA5C2BAA5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308229"/>
            <a:ext cx="7266709" cy="25855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AEF8FBB-2DEF-4795-84CC-6D407ABD6F59}"/>
              </a:ext>
            </a:extLst>
          </p:cNvPr>
          <p:cNvSpPr txBox="1"/>
          <p:nvPr/>
        </p:nvSpPr>
        <p:spPr>
          <a:xfrm>
            <a:off x="3816926" y="6065543"/>
            <a:ext cx="4814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趋于</a:t>
            </a:r>
            <a:r>
              <a:rPr lang="en-US" altLang="zh-CN" sz="3200" dirty="0">
                <a:solidFill>
                  <a:srgbClr val="FF0000"/>
                </a:solidFill>
              </a:rPr>
              <a:t>0</a:t>
            </a:r>
            <a:r>
              <a:rPr lang="zh-CN" altLang="en-US" sz="3200" dirty="0">
                <a:solidFill>
                  <a:srgbClr val="FF0000"/>
                </a:solidFill>
              </a:rPr>
              <a:t>越快，越高阶</a:t>
            </a:r>
          </a:p>
        </p:txBody>
      </p:sp>
    </p:spTree>
    <p:extLst>
      <p:ext uri="{BB962C8B-B14F-4D97-AF65-F5344CB8AC3E}">
        <p14:creationId xmlns:p14="http://schemas.microsoft.com/office/powerpoint/2010/main" val="42928882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EB26A-F6A5-4882-AD71-F91994D85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无穷小的主部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85B3026-F264-4FFB-83C6-96E1DEDEF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7" t="20137" r="16882" b="39258"/>
          <a:stretch/>
        </p:blipFill>
        <p:spPr>
          <a:xfrm>
            <a:off x="270164" y="1690688"/>
            <a:ext cx="5919024" cy="2438401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48F3F17-0B7F-4A65-97A6-B6518D4975F7}"/>
              </a:ext>
            </a:extLst>
          </p:cNvPr>
          <p:cNvSpPr txBox="1"/>
          <p:nvPr/>
        </p:nvSpPr>
        <p:spPr>
          <a:xfrm>
            <a:off x="498764" y="4330205"/>
            <a:ext cx="680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主部是由</a:t>
            </a:r>
            <a:r>
              <a:rPr lang="en-US" altLang="zh-CN" dirty="0"/>
              <a:t>k</a:t>
            </a:r>
            <a:r>
              <a:rPr lang="zh-CN" altLang="en-US" dirty="0"/>
              <a:t>阶无穷小的</a:t>
            </a:r>
            <a:r>
              <a:rPr lang="en-US" altLang="zh-CN" dirty="0"/>
              <a:t>k</a:t>
            </a:r>
            <a:r>
              <a:rPr lang="zh-CN" altLang="en-US" dirty="0"/>
              <a:t>决定的！并非确定的次数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2295BA-B10B-484A-BB30-0C7D7B87CB20}"/>
              </a:ext>
            </a:extLst>
          </p:cNvPr>
          <p:cNvSpPr txBox="1"/>
          <p:nvPr/>
        </p:nvSpPr>
        <p:spPr>
          <a:xfrm>
            <a:off x="678873" y="5269986"/>
            <a:ext cx="460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直观来看，主部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找趋于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最慢的那一阶数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FA79DA-C707-4818-BF85-25DEB9A340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035" y="1973257"/>
            <a:ext cx="5153891" cy="132081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80ECC8C-013F-4397-A2BC-A4A955C0F80E}"/>
              </a:ext>
            </a:extLst>
          </p:cNvPr>
          <p:cNvSpPr txBox="1"/>
          <p:nvPr/>
        </p:nvSpPr>
        <p:spPr>
          <a:xfrm>
            <a:off x="6726382" y="3525682"/>
            <a:ext cx="591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常见等价无穷小的替换，</a:t>
            </a:r>
            <a:r>
              <a:rPr lang="en-US" altLang="zh-CN" dirty="0"/>
              <a:t>x</a:t>
            </a:r>
            <a:r>
              <a:rPr lang="zh-CN" altLang="en-US" dirty="0"/>
              <a:t>可以变量替换为</a:t>
            </a:r>
            <a:r>
              <a:rPr lang="en-US" altLang="zh-CN" dirty="0"/>
              <a:t>x^2,etc…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BA081B-F9C9-4DEA-8192-AE77EBFA81A6}"/>
              </a:ext>
            </a:extLst>
          </p:cNvPr>
          <p:cNvSpPr txBox="1"/>
          <p:nvPr/>
        </p:nvSpPr>
        <p:spPr>
          <a:xfrm>
            <a:off x="6830291" y="4225636"/>
            <a:ext cx="45235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有什么用？极限计算时做简化。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注意：这个替换不是完全正确的</a:t>
            </a:r>
            <a:endParaRPr lang="en-US" altLang="zh-CN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Why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只关注了主部，忽略了更高次项数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6CA9405-DA9B-4509-8A5A-EE2115A49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732" y="5765838"/>
            <a:ext cx="2432541" cy="8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750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DA409-2A11-4BAF-B3A2-C7F4310F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D18F723-1676-43CE-916F-6A5B5872E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28" y="416785"/>
            <a:ext cx="10515600" cy="2547806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94E2DFF-C56C-42BA-B82F-5CD0653092FE}"/>
              </a:ext>
            </a:extLst>
          </p:cNvPr>
          <p:cNvSpPr/>
          <p:nvPr/>
        </p:nvSpPr>
        <p:spPr>
          <a:xfrm>
            <a:off x="838200" y="872836"/>
            <a:ext cx="9220200" cy="47105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841D02-E9EF-4A3B-B2D6-28EF5B4530F0}"/>
              </a:ext>
            </a:extLst>
          </p:cNvPr>
          <p:cNvSpPr txBox="1"/>
          <p:nvPr/>
        </p:nvSpPr>
        <p:spPr>
          <a:xfrm>
            <a:off x="3075709" y="3059668"/>
            <a:ext cx="7038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思考，为什么？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E38B29-71E7-404D-9B79-23980E964B25}"/>
              </a:ext>
            </a:extLst>
          </p:cNvPr>
          <p:cNvSpPr txBox="1"/>
          <p:nvPr/>
        </p:nvSpPr>
        <p:spPr>
          <a:xfrm>
            <a:off x="5448300" y="3059668"/>
            <a:ext cx="730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本质上：忽略了高次项的影响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340ABA-264C-4EEC-942C-D4483FD3B6FF}"/>
              </a:ext>
            </a:extLst>
          </p:cNvPr>
          <p:cNvSpPr txBox="1"/>
          <p:nvPr/>
        </p:nvSpPr>
        <p:spPr>
          <a:xfrm>
            <a:off x="387927" y="3761509"/>
            <a:ext cx="672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如果乘除结果外还有加减法同样要小心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8AAD9C8-15C9-4358-B04F-844D83FE5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63350"/>
            <a:ext cx="2629358" cy="105904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C712A21-E6EC-41CD-8798-B8471D2BB91F}"/>
              </a:ext>
            </a:extLst>
          </p:cNvPr>
          <p:cNvSpPr txBox="1"/>
          <p:nvPr/>
        </p:nvSpPr>
        <p:spPr>
          <a:xfrm>
            <a:off x="5860473" y="3761509"/>
            <a:ext cx="425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为什么乘除不影响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30A82F2-00DB-46F4-9DBC-CB141362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128" y="4130841"/>
            <a:ext cx="3827869" cy="26420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38DB3B3-9AF7-4FE6-B500-3602543E7D03}"/>
              </a:ext>
            </a:extLst>
          </p:cNvPr>
          <p:cNvSpPr txBox="1"/>
          <p:nvPr/>
        </p:nvSpPr>
        <p:spPr>
          <a:xfrm>
            <a:off x="387927" y="5978236"/>
            <a:ext cx="3827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怎么办？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学到泰勒展开以后全部展开别替换</a:t>
            </a:r>
          </a:p>
        </p:txBody>
      </p:sp>
    </p:spTree>
    <p:extLst>
      <p:ext uri="{BB962C8B-B14F-4D97-AF65-F5344CB8AC3E}">
        <p14:creationId xmlns:p14="http://schemas.microsoft.com/office/powerpoint/2010/main" val="35933192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94094-E7DF-4941-A43F-023F4EE7C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其他的等价无穷小替换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477FC4-A097-4875-B920-0C1A1A5B489B}"/>
                  </a:ext>
                </a:extLst>
              </p:cNvPr>
              <p:cNvSpPr txBox="1"/>
              <p:nvPr/>
            </p:nvSpPr>
            <p:spPr>
              <a:xfrm>
                <a:off x="-1489363" y="1690688"/>
                <a:ext cx="9198381" cy="4585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sz="4000" dirty="0"/>
              </a:p>
              <a:p>
                <a:pPr lvl="7"/>
                <a:r>
                  <a:rPr lang="en-US" altLang="zh-CN" sz="4000" dirty="0"/>
                  <a:t>cos x ∼ 1 − ½x²</a:t>
                </a:r>
              </a:p>
              <a:p>
                <a:pPr lvl="7"/>
                <a:r>
                  <a:rPr lang="en-US" altLang="zh-CN" sz="4000" dirty="0"/>
                  <a:t>ln(1+x) ∼ x</a:t>
                </a:r>
              </a:p>
              <a:p>
                <a:pPr lvl="7"/>
                <a:r>
                  <a:rPr lang="en-US" altLang="zh-CN" sz="4000" dirty="0" err="1"/>
                  <a:t>aˣ</a:t>
                </a:r>
                <a:r>
                  <a:rPr lang="en-US" altLang="zh-CN" sz="4000" dirty="0"/>
                  <a:t> − 1 ∼ (ln a)x</a:t>
                </a:r>
              </a:p>
              <a:p>
                <a:pPr lvl="7"/>
                <a:r>
                  <a:rPr lang="en-US" altLang="zh-CN" sz="4000" dirty="0" err="1"/>
                  <a:t>eˣ</a:t>
                </a:r>
                <a:r>
                  <a:rPr lang="en-US" altLang="zh-CN" sz="4000" dirty="0"/>
                  <a:t> − 1 ∼ x</a:t>
                </a:r>
              </a:p>
              <a:p>
                <a:pPr lvl="7"/>
                <a:r>
                  <a:rPr lang="en-US" altLang="zh-CN" sz="4000" dirty="0"/>
                  <a:t>ⁿ√(1+x) − 1 ∼ ˣ⁄ₙ</a:t>
                </a:r>
              </a:p>
              <a:p>
                <a:pPr lvl="7"/>
                <a:r>
                  <a:rPr lang="en-US" altLang="zh-CN" sz="4000" dirty="0"/>
                  <a:t>(1+x)ᵅ − 1 ∼ </a:t>
                </a:r>
                <a:r>
                  <a:rPr lang="el-GR" altLang="zh-CN" sz="4000" dirty="0"/>
                  <a:t>α</a:t>
                </a:r>
                <a:r>
                  <a:rPr lang="en-US" altLang="zh-CN" sz="4000" dirty="0"/>
                  <a:t>x</a:t>
                </a:r>
                <a:r>
                  <a:rPr lang="zh-CN" altLang="en-US" sz="4000" dirty="0"/>
                  <a:t>　</a:t>
                </a:r>
                <a:r>
                  <a:rPr lang="en-US" altLang="zh-CN" sz="4000" dirty="0"/>
                  <a:t>(x→0)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477FC4-A097-4875-B920-0C1A1A5B4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89363" y="1690688"/>
                <a:ext cx="9198381" cy="45858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EC2406F8-A296-41BD-A1D9-4C14D54A5A99}"/>
              </a:ext>
            </a:extLst>
          </p:cNvPr>
          <p:cNvSpPr txBox="1"/>
          <p:nvPr/>
        </p:nvSpPr>
        <p:spPr>
          <a:xfrm>
            <a:off x="7176654" y="2687782"/>
            <a:ext cx="4281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把无穷大与无穷小转化的方法</a:t>
            </a:r>
            <a:endParaRPr lang="en-US" altLang="zh-CN" sz="3600" dirty="0"/>
          </a:p>
          <a:p>
            <a:r>
              <a:rPr lang="en-US" altLang="zh-CN" sz="3600" dirty="0"/>
              <a:t>n*f(x)=f(x)/(1/n)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457902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2381A-9158-48F9-B295-0139839D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函数的连续性（左右连续同理）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A58400-F120-4865-AF15-586522754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615054" cy="3356407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B21AF0B-3ABF-4EFF-880C-7C33E0F826BC}"/>
              </a:ext>
            </a:extLst>
          </p:cNvPr>
          <p:cNvSpPr txBox="1"/>
          <p:nvPr/>
        </p:nvSpPr>
        <p:spPr>
          <a:xfrm>
            <a:off x="1558635" y="5334000"/>
            <a:ext cx="7668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隐含要求：函数左右极限也要相同</a:t>
            </a:r>
          </a:p>
        </p:txBody>
      </p:sp>
    </p:spTree>
    <p:extLst>
      <p:ext uri="{BB962C8B-B14F-4D97-AF65-F5344CB8AC3E}">
        <p14:creationId xmlns:p14="http://schemas.microsoft.com/office/powerpoint/2010/main" val="31278783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CC40A-2DAF-43A9-B195-518BD033F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函数的间断点分类与连续性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0F403-CE7E-4969-8210-A72AC650C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4" y="1690688"/>
            <a:ext cx="11712388" cy="4351338"/>
          </a:xfrm>
        </p:spPr>
        <p:txBody>
          <a:bodyPr/>
          <a:lstStyle/>
          <a:p>
            <a:r>
              <a:rPr lang="zh-CN" altLang="en-US" dirty="0"/>
              <a:t>第一类间断点（左右极限都存在）：可去间断点，跳跃间断点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第二类间断点（左右极限有一个不存在）：无穷间断点和震荡间断点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7F53DE-D316-4004-9AE1-1DA010084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617" y="4001294"/>
            <a:ext cx="7206848" cy="251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245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975D4-214F-4D28-A7B1-0296DA24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闭区间连续函数的性质（为后续微分铺垫）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2BE6CD-E8BF-41AC-92E0-E8167E24C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有界性定理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最大值最小值定理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零点存在定理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介值定理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06203C-E96A-4C77-AB37-B0BA2F9AD68A}"/>
              </a:ext>
            </a:extLst>
          </p:cNvPr>
          <p:cNvSpPr txBox="1"/>
          <p:nvPr/>
        </p:nvSpPr>
        <p:spPr>
          <a:xfrm>
            <a:off x="6005945" y="3351706"/>
            <a:ext cx="5126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不要求证明，但要能看懂证明并能运用这些定理</a:t>
            </a: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16A033DD-E2A8-443D-9EAD-DDEDD718869B}"/>
              </a:ext>
            </a:extLst>
          </p:cNvPr>
          <p:cNvSpPr/>
          <p:nvPr/>
        </p:nvSpPr>
        <p:spPr>
          <a:xfrm>
            <a:off x="4973782" y="1967345"/>
            <a:ext cx="533400" cy="313805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16213B-CB27-4915-AC30-FA4B71A0EFE8}"/>
              </a:ext>
            </a:extLst>
          </p:cNvPr>
          <p:cNvSpPr txBox="1"/>
          <p:nvPr/>
        </p:nvSpPr>
        <p:spPr>
          <a:xfrm>
            <a:off x="942109" y="5892739"/>
            <a:ext cx="9365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注意证明的书写，后续与微分中值定理结合，期中考试大概率压轴</a:t>
            </a:r>
          </a:p>
        </p:txBody>
      </p:sp>
    </p:spTree>
    <p:extLst>
      <p:ext uri="{BB962C8B-B14F-4D97-AF65-F5344CB8AC3E}">
        <p14:creationId xmlns:p14="http://schemas.microsoft.com/office/powerpoint/2010/main" val="30734576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F750C2-5D4F-4E2F-B47D-18809DDD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Thinking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344C99D-6E89-411B-B9AD-573651371B8E}"/>
                  </a:ext>
                </a:extLst>
              </p:cNvPr>
              <p:cNvSpPr txBox="1"/>
              <p:nvPr/>
            </p:nvSpPr>
            <p:spPr>
              <a:xfrm>
                <a:off x="1236518" y="5533871"/>
                <a:ext cx="9718963" cy="832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请复习并自行推导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zh-CN" alt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dirty="0"/>
                  <a:t>及其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变体！！！！，</a:t>
                </a:r>
                <a:r>
                  <a:rPr lang="zh-CN" altLang="en-US" dirty="0"/>
                  <a:t>等价无穷小转化背清楚，</a:t>
                </a:r>
                <a:endParaRPr lang="en-US" altLang="zh-CN" dirty="0"/>
              </a:p>
              <a:p>
                <a:r>
                  <a:rPr lang="zh-CN" altLang="en-US" dirty="0"/>
                  <a:t>感兴趣的同学可以看泰勒展开部分（虽然期中考试前也会讲到）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344C99D-6E89-411B-B9AD-573651371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518" y="5533871"/>
                <a:ext cx="9718963" cy="832792"/>
              </a:xfrm>
              <a:prstGeom prst="rect">
                <a:avLst/>
              </a:prstGeom>
              <a:blipFill>
                <a:blip r:embed="rId2"/>
                <a:stretch>
                  <a:fillRect l="-565" b="-11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327E7ABF-E1D1-494F-B940-DCA3F81022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8" t="1254" r="53864" b="68059"/>
          <a:stretch/>
        </p:blipFill>
        <p:spPr>
          <a:xfrm>
            <a:off x="1418053" y="1324129"/>
            <a:ext cx="6144538" cy="223750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EEB7285-55C8-445F-8D44-29C2D1538175}"/>
              </a:ext>
            </a:extLst>
          </p:cNvPr>
          <p:cNvSpPr txBox="1"/>
          <p:nvPr/>
        </p:nvSpPr>
        <p:spPr>
          <a:xfrm>
            <a:off x="8385932" y="4363088"/>
            <a:ext cx="3354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Provided by </a:t>
            </a:r>
            <a:r>
              <a:rPr lang="en-US" altLang="zh-CN" dirty="0" err="1"/>
              <a:t>Prof.Qiang</a:t>
            </a:r>
            <a:r>
              <a:rPr lang="en-US" altLang="zh-CN" dirty="0"/>
              <a:t> Wang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12293D-DE0D-412F-8B58-6BB44E86FA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905" y="4093492"/>
            <a:ext cx="7193041" cy="8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713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D18F9-4470-4902-B111-1FD4F16A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r>
              <a:rPr lang="zh-CN" altLang="en-US" dirty="0"/>
              <a:t>考什么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853DA8-3B26-4724-8644-404F2F7F0F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871" y="1583170"/>
                <a:ext cx="10986655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zh-CN" altLang="en-US" dirty="0"/>
                  <a:t>我也不知道，以下均为猜测内容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1.</a:t>
                </a:r>
                <a:r>
                  <a:rPr lang="zh-CN" altLang="en-US" dirty="0"/>
                  <a:t>大概率</a:t>
                </a:r>
                <a:r>
                  <a:rPr lang="en-US" altLang="zh-CN" dirty="0"/>
                  <a:t>3~4</a:t>
                </a:r>
                <a:r>
                  <a:rPr lang="zh-CN" altLang="en-US" dirty="0"/>
                  <a:t>道题目</a:t>
                </a:r>
                <a:endParaRPr lang="en-US" altLang="zh-CN" dirty="0"/>
              </a:p>
              <a:p>
                <a:r>
                  <a:rPr lang="en-US" altLang="zh-CN" dirty="0"/>
                  <a:t>2.</a:t>
                </a:r>
                <a:r>
                  <a:rPr lang="zh-CN" altLang="en-US" dirty="0"/>
                  <a:t>用</a:t>
                </a:r>
                <a:r>
                  <a:rPr lang="en-US" altLang="zh-CN" dirty="0"/>
                  <a:t>ε-δ</a:t>
                </a:r>
                <a:r>
                  <a:rPr lang="zh-CN" altLang="en-US" dirty="0"/>
                  <a:t>语言证明极限，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必考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1or2</a:t>
                </a:r>
                <a:r>
                  <a:rPr lang="zh-CN" altLang="en-US" dirty="0"/>
                  <a:t>道题，数列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函数）</a:t>
                </a:r>
                <a:endParaRPr lang="en-US" altLang="zh-CN" dirty="0"/>
              </a:p>
              <a:p>
                <a:r>
                  <a:rPr lang="en-US" altLang="zh-CN" dirty="0"/>
                  <a:t>3.</a:t>
                </a:r>
                <a:r>
                  <a:rPr lang="zh-CN" altLang="en-US" dirty="0"/>
                  <a:t>极限的计算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必考</a:t>
                </a:r>
                <a:r>
                  <a:rPr lang="zh-CN" altLang="en-US" dirty="0"/>
                  <a:t>（大概率与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dirty="0"/>
                  <a:t>或者夹逼或者无穷小替换有关）</a:t>
                </a:r>
                <a:endParaRPr lang="en-US" altLang="zh-CN" dirty="0"/>
              </a:p>
              <a:p>
                <a:r>
                  <a:rPr lang="en-US" altLang="zh-CN" dirty="0"/>
                  <a:t>4.</a:t>
                </a:r>
                <a:r>
                  <a:rPr lang="zh-CN" altLang="en-US" dirty="0"/>
                  <a:t>判断题（归并性，</a:t>
                </a:r>
                <a:r>
                  <a:rPr lang="en-US" altLang="zh-CN" dirty="0" err="1"/>
                  <a:t>heine</a:t>
                </a:r>
                <a:r>
                  <a:rPr lang="zh-CN" altLang="en-US" dirty="0"/>
                  <a:t>定理，无界≠无穷大，</a:t>
                </a:r>
                <a:r>
                  <a:rPr lang="en-US" altLang="zh-CN" dirty="0" err="1"/>
                  <a:t>etc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en-US" altLang="zh-CN" dirty="0"/>
                  <a:t>5.</a:t>
                </a:r>
                <a:r>
                  <a:rPr lang="zh-CN" altLang="en-US" dirty="0"/>
                  <a:t>递归数列极限（应该不会难但是关注书写的逻辑）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不用太焦虑，</a:t>
                </a:r>
                <a:r>
                  <a:rPr lang="en-US" altLang="zh-CN" dirty="0"/>
                  <a:t>quiz</a:t>
                </a:r>
                <a:r>
                  <a:rPr lang="zh-CN" altLang="en-US" dirty="0"/>
                  <a:t>的占比也不会很高，更多是对阶段学习的检验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853DA8-3B26-4724-8644-404F2F7F0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871" y="1583170"/>
                <a:ext cx="10986655" cy="4351338"/>
              </a:xfrm>
              <a:blipFill>
                <a:blip r:embed="rId3"/>
                <a:stretch>
                  <a:fillRect l="-721" t="-3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2BDCDC3-AEA7-4B2F-A4A4-14BC3412D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775" y="596380"/>
            <a:ext cx="1874788" cy="180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193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FAA7-0A71-6D68-BF43-F0E48421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E35291-CC5B-3981-E8B4-F756ABE9B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252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7200" dirty="0" err="1"/>
              <a:t>That’all</a:t>
            </a:r>
            <a:r>
              <a:rPr lang="en-US" altLang="zh-CN" sz="7200" dirty="0"/>
              <a:t> ,thanks</a:t>
            </a:r>
          </a:p>
          <a:p>
            <a:pPr marL="0" indent="0">
              <a:buNone/>
            </a:pPr>
            <a:r>
              <a:rPr lang="zh-CN" altLang="en-US" sz="3600" dirty="0"/>
              <a:t>预祝各位</a:t>
            </a:r>
            <a:r>
              <a:rPr lang="en-US" altLang="zh-CN" sz="3600" dirty="0"/>
              <a:t>quiz</a:t>
            </a:r>
            <a:r>
              <a:rPr lang="zh-CN" altLang="en-US" sz="3600" dirty="0"/>
              <a:t>顺利！</a:t>
            </a:r>
          </a:p>
        </p:txBody>
      </p:sp>
    </p:spTree>
    <p:extLst>
      <p:ext uri="{BB962C8B-B14F-4D97-AF65-F5344CB8AC3E}">
        <p14:creationId xmlns:p14="http://schemas.microsoft.com/office/powerpoint/2010/main" val="1509777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70E00E-B9B2-4119-A43E-51B5D7ABA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123"/>
            <a:ext cx="10515600" cy="4351338"/>
          </a:xfrm>
        </p:spPr>
        <p:txBody>
          <a:bodyPr/>
          <a:lstStyle/>
          <a:p>
            <a:r>
              <a:rPr lang="zh-CN" altLang="en-US" sz="2800" dirty="0"/>
              <a:t>上次作业在第一排左侧，本次作业交到第一排右侧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/>
              <a:t>请间隔就坐，不要使用</a:t>
            </a:r>
            <a:r>
              <a:rPr lang="zh-CN" altLang="en-US" dirty="0"/>
              <a:t>手机等电子产品</a:t>
            </a:r>
            <a:endParaRPr lang="en-US" altLang="zh-CN" dirty="0"/>
          </a:p>
          <a:p>
            <a:endParaRPr lang="en-US" altLang="zh-CN" sz="2800" dirty="0"/>
          </a:p>
          <a:p>
            <a:r>
              <a:rPr lang="en-US" altLang="zh-CN" dirty="0"/>
              <a:t>Quiz</a:t>
            </a:r>
            <a:r>
              <a:rPr lang="zh-CN" altLang="en-US" dirty="0"/>
              <a:t>时长：</a:t>
            </a:r>
            <a:r>
              <a:rPr lang="en-US" altLang="zh-CN" dirty="0"/>
              <a:t>18</a:t>
            </a:r>
            <a:r>
              <a:rPr lang="zh-CN" altLang="en-US" dirty="0"/>
              <a:t>：</a:t>
            </a:r>
            <a:r>
              <a:rPr lang="en-US" altLang="zh-CN" dirty="0"/>
              <a:t>00---18</a:t>
            </a:r>
            <a:r>
              <a:rPr lang="zh-CN" altLang="en-US" dirty="0"/>
              <a:t>：</a:t>
            </a:r>
            <a:r>
              <a:rPr lang="en-US" altLang="zh-CN" dirty="0"/>
              <a:t>30</a:t>
            </a:r>
            <a:endParaRPr lang="en-US" altLang="zh-CN" sz="2800" dirty="0"/>
          </a:p>
          <a:p>
            <a:endParaRPr lang="en-US" altLang="zh-CN" dirty="0"/>
          </a:p>
          <a:p>
            <a:r>
              <a:rPr lang="zh-CN" altLang="en-US" sz="2800" dirty="0"/>
              <a:t>预祝各位</a:t>
            </a:r>
            <a:r>
              <a:rPr lang="en-US" altLang="zh-CN" sz="2800" dirty="0"/>
              <a:t>quiz</a:t>
            </a:r>
            <a:r>
              <a:rPr lang="zh-CN" altLang="en-US" sz="2800" dirty="0"/>
              <a:t>顺利！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654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CCCB7-D1A6-4D2B-BE97-9E0B7DF73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导数与微分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B9EDFC-8883-47F4-9F53-A995579CF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257907" cy="4351338"/>
          </a:xfrm>
        </p:spPr>
        <p:txBody>
          <a:bodyPr/>
          <a:lstStyle/>
          <a:p>
            <a:r>
              <a:rPr lang="zh-CN" altLang="en-US" dirty="0"/>
              <a:t>导数：变化率</a:t>
            </a:r>
            <a:endParaRPr lang="en-US" altLang="zh-CN" dirty="0"/>
          </a:p>
          <a:p>
            <a:r>
              <a:rPr lang="zh-CN" altLang="en-US" dirty="0"/>
              <a:t>微分：增量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一定要熟悉</a:t>
            </a:r>
            <a:r>
              <a:rPr lang="en-US" altLang="zh-CN" dirty="0" err="1"/>
              <a:t>dy</a:t>
            </a:r>
            <a:r>
              <a:rPr lang="en-US" altLang="zh-CN" dirty="0"/>
              <a:t>/dx</a:t>
            </a:r>
            <a:r>
              <a:rPr lang="zh-CN" altLang="en-US" dirty="0"/>
              <a:t>的写法，</a:t>
            </a:r>
            <a:r>
              <a:rPr lang="en-US" altLang="zh-CN" dirty="0"/>
              <a:t>f’(x)</a:t>
            </a:r>
            <a:r>
              <a:rPr lang="zh-CN" altLang="en-US" dirty="0"/>
              <a:t>以后尽量少用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一定要会用定义推导数！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054A94-DB2C-434E-BC73-0B424DE47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215" y="1222437"/>
            <a:ext cx="59515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001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10480-F4CF-4588-AEC7-CC04C556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可导与连续的关系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A79471-83C9-4C91-BB3E-30E3DF7A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略（回忆高中知识）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导数四则运算与链式法则（略）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隐函数和参数方程求导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隐函数：把</a:t>
            </a:r>
            <a:r>
              <a:rPr lang="en-US" altLang="zh-CN" dirty="0">
                <a:solidFill>
                  <a:srgbClr val="FF0000"/>
                </a:solidFill>
              </a:rPr>
              <a:t>y</a:t>
            </a:r>
            <a:r>
              <a:rPr lang="zh-CN" altLang="en-US" dirty="0">
                <a:solidFill>
                  <a:srgbClr val="FF0000"/>
                </a:solidFill>
              </a:rPr>
              <a:t>当作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>
                <a:solidFill>
                  <a:srgbClr val="FF0000"/>
                </a:solidFill>
              </a:rPr>
              <a:t>的函数</a:t>
            </a:r>
            <a:r>
              <a:rPr lang="zh-CN" altLang="en-US" dirty="0"/>
              <a:t>（</a:t>
            </a:r>
            <a:r>
              <a:rPr lang="en-US" altLang="zh-CN" dirty="0"/>
              <a:t>or</a:t>
            </a:r>
            <a:r>
              <a:rPr lang="zh-CN" altLang="en-US" dirty="0"/>
              <a:t>相反同理）</a:t>
            </a:r>
            <a:endParaRPr lang="en-US" altLang="zh-CN" dirty="0"/>
          </a:p>
          <a:p>
            <a:r>
              <a:rPr lang="zh-CN" altLang="en-US" dirty="0"/>
              <a:t>参数方程：直接对</a:t>
            </a:r>
            <a:r>
              <a:rPr lang="en-US" altLang="zh-CN" dirty="0"/>
              <a:t>t</a:t>
            </a:r>
            <a:r>
              <a:rPr lang="zh-CN" altLang="en-US" dirty="0"/>
              <a:t>求导即可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16356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29EE5-08CB-4610-BE76-2BAE5CD9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关注从导数的定义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E20578-9FCF-462E-9E01-1BA10121E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5210FB-0391-43A9-93B3-3AD506E7F7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412" b="26277"/>
          <a:stretch/>
        </p:blipFill>
        <p:spPr>
          <a:xfrm>
            <a:off x="1908694" y="1517766"/>
            <a:ext cx="8374612" cy="49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683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90234-03BF-48F7-9C43-583FF095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高阶导数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A39BF-16B9-4CB0-892E-FB65AFA83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5352"/>
            <a:ext cx="10515600" cy="4351338"/>
          </a:xfrm>
        </p:spPr>
        <p:txBody>
          <a:bodyPr/>
          <a:lstStyle/>
          <a:p>
            <a:r>
              <a:rPr lang="zh-CN" altLang="en-US" dirty="0"/>
              <a:t>本质：反复求导</a:t>
            </a:r>
            <a:endParaRPr lang="en-US" altLang="zh-CN" dirty="0"/>
          </a:p>
          <a:p>
            <a:r>
              <a:rPr lang="zh-CN" altLang="en-US" dirty="0"/>
              <a:t>关注牛顿</a:t>
            </a:r>
            <a:r>
              <a:rPr lang="en-US" altLang="zh-CN" dirty="0"/>
              <a:t>-</a:t>
            </a:r>
            <a:r>
              <a:rPr lang="zh-CN" altLang="en-US" dirty="0"/>
              <a:t>莱布尼茨公式：类似二项式定理</a:t>
            </a:r>
            <a:endParaRPr lang="en-US" altLang="zh-CN" dirty="0"/>
          </a:p>
          <a:p>
            <a:r>
              <a:rPr lang="zh-CN" altLang="en-US" dirty="0"/>
              <a:t>（关注例题！！！  </a:t>
            </a:r>
            <a:r>
              <a:rPr lang="en-US" altLang="zh-CN" dirty="0"/>
              <a:t>3.57</a:t>
            </a:r>
            <a:r>
              <a:rPr lang="zh-CN" altLang="en-US" dirty="0"/>
              <a:t>等等）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关注隐函数与参数方程的二阶导数！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常见题目：找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阶导数的通项公式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0DE2F2-5A71-4FA4-8440-99638BECF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70" y="1401508"/>
            <a:ext cx="10039815" cy="148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855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6F95D-B3A2-482B-A5CC-A68730C3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Thinking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1A4955E-DE1E-46D4-8102-963D82605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5" t="22625" r="58527" b="63152"/>
          <a:stretch/>
        </p:blipFill>
        <p:spPr>
          <a:xfrm>
            <a:off x="1393904" y="3233854"/>
            <a:ext cx="7309170" cy="2358483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A84AE13-9174-40EC-A55A-6B26F85F2692}"/>
              </a:ext>
            </a:extLst>
          </p:cNvPr>
          <p:cNvSpPr txBox="1"/>
          <p:nvPr/>
        </p:nvSpPr>
        <p:spPr>
          <a:xfrm>
            <a:off x="1395761" y="1984918"/>
            <a:ext cx="94004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参数方程二阶导怎么求？ </a:t>
            </a:r>
            <a:r>
              <a:rPr lang="en-US" altLang="zh-CN" sz="4400" dirty="0"/>
              <a:t>Try again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020036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21F3B-D934-46F5-8B8D-47FF1F21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第四章（期中重点</a:t>
            </a:r>
            <a:r>
              <a:rPr lang="en-US" altLang="zh-CN" dirty="0"/>
              <a:t>&amp;</a:t>
            </a:r>
            <a:r>
              <a:rPr lang="zh-CN" altLang="en-US" dirty="0"/>
              <a:t>难点！）</a:t>
            </a:r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A095414F-A574-4F67-BD6E-712B0E406404}"/>
              </a:ext>
            </a:extLst>
          </p:cNvPr>
          <p:cNvSpPr/>
          <p:nvPr/>
        </p:nvSpPr>
        <p:spPr>
          <a:xfrm>
            <a:off x="1382752" y="1851102"/>
            <a:ext cx="847492" cy="39169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44689C-2B7B-4A54-A0C2-4987D63D77C8}"/>
              </a:ext>
            </a:extLst>
          </p:cNvPr>
          <p:cNvSpPr txBox="1"/>
          <p:nvPr/>
        </p:nvSpPr>
        <p:spPr>
          <a:xfrm>
            <a:off x="2520175" y="1690687"/>
            <a:ext cx="738210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费马引理</a:t>
            </a:r>
            <a:endParaRPr lang="en-US" altLang="zh-CN" sz="4000" b="1" dirty="0"/>
          </a:p>
          <a:p>
            <a:endParaRPr lang="en-US" altLang="zh-CN" sz="4000" b="1" dirty="0"/>
          </a:p>
          <a:p>
            <a:r>
              <a:rPr lang="zh-CN" altLang="en-US" sz="4000" b="1" dirty="0"/>
              <a:t>罗尔定理</a:t>
            </a:r>
            <a:endParaRPr lang="en-US" altLang="zh-CN" sz="4000" b="1" dirty="0"/>
          </a:p>
          <a:p>
            <a:endParaRPr lang="en-US" altLang="zh-CN" sz="4000" b="1" dirty="0"/>
          </a:p>
          <a:p>
            <a:r>
              <a:rPr lang="zh-CN" altLang="en-US" sz="4000" b="1" dirty="0"/>
              <a:t>拉格朗日中值定理</a:t>
            </a:r>
            <a:endParaRPr lang="en-US" altLang="zh-CN" sz="4000" b="1" dirty="0"/>
          </a:p>
          <a:p>
            <a:endParaRPr lang="en-US" altLang="zh-CN" sz="4000" b="1" dirty="0"/>
          </a:p>
          <a:p>
            <a:r>
              <a:rPr lang="zh-CN" altLang="en-US" sz="4000" b="1" dirty="0"/>
              <a:t>柯西中值定理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499F8B-38E8-4CB1-AED3-9AAEC29E57DA}"/>
              </a:ext>
            </a:extLst>
          </p:cNvPr>
          <p:cNvSpPr txBox="1"/>
          <p:nvPr/>
        </p:nvSpPr>
        <p:spPr>
          <a:xfrm>
            <a:off x="7848599" y="2629407"/>
            <a:ext cx="37356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常见方法：</a:t>
            </a:r>
            <a:endParaRPr lang="en-US" altLang="zh-CN" sz="3600" dirty="0"/>
          </a:p>
          <a:p>
            <a:r>
              <a:rPr lang="en-US" altLang="zh-CN" sz="3600" dirty="0">
                <a:solidFill>
                  <a:srgbClr val="FF0000"/>
                </a:solidFill>
              </a:rPr>
              <a:t>1.</a:t>
            </a:r>
            <a:r>
              <a:rPr lang="zh-CN" altLang="en-US" sz="3600" dirty="0">
                <a:solidFill>
                  <a:srgbClr val="FF0000"/>
                </a:solidFill>
              </a:rPr>
              <a:t>构造函数</a:t>
            </a:r>
            <a:endParaRPr lang="en-US" altLang="zh-CN" sz="3600" dirty="0">
              <a:solidFill>
                <a:srgbClr val="FF0000"/>
              </a:solidFill>
            </a:endParaRPr>
          </a:p>
          <a:p>
            <a:r>
              <a:rPr lang="en-US" altLang="zh-CN" sz="3600" dirty="0"/>
              <a:t>2.</a:t>
            </a:r>
            <a:r>
              <a:rPr lang="zh-CN" altLang="en-US" sz="3600" dirty="0"/>
              <a:t>反证法</a:t>
            </a:r>
            <a:endParaRPr lang="en-US" altLang="zh-CN" sz="3600" dirty="0"/>
          </a:p>
          <a:p>
            <a:r>
              <a:rPr lang="en-US" altLang="zh-CN" sz="3600" dirty="0"/>
              <a:t>3.</a:t>
            </a:r>
            <a:r>
              <a:rPr lang="zh-CN" altLang="en-US" sz="3600" dirty="0"/>
              <a:t>取中值证明</a:t>
            </a:r>
          </a:p>
        </p:txBody>
      </p:sp>
    </p:spTree>
    <p:extLst>
      <p:ext uri="{BB962C8B-B14F-4D97-AF65-F5344CB8AC3E}">
        <p14:creationId xmlns:p14="http://schemas.microsoft.com/office/powerpoint/2010/main" val="11434981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EA713-C729-4347-814A-3098CCAAE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why</a:t>
            </a:r>
            <a:r>
              <a:rPr lang="zh-CN" altLang="en-US" dirty="0">
                <a:solidFill>
                  <a:srgbClr val="FF0000"/>
                </a:solidFill>
              </a:rPr>
              <a:t>闭区间连续，开区间可导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6AB4F-D75A-41E3-868C-BCB09DE1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DCF822-E80D-42E5-8BC7-67C2BFD61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16" y="1913712"/>
            <a:ext cx="11905567" cy="241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498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F9030-71E0-4F5F-A43C-D35AEA14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Darboux</a:t>
            </a:r>
            <a:r>
              <a:rPr lang="zh-CN" altLang="en-US" dirty="0"/>
              <a:t>定理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A74DBDB-6D62-46B5-B578-4C717A051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83" y="1597728"/>
            <a:ext cx="10515600" cy="1394857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A38431-04EA-432F-B496-BC520039DF27}"/>
              </a:ext>
            </a:extLst>
          </p:cNvPr>
          <p:cNvSpPr txBox="1"/>
          <p:nvPr/>
        </p:nvSpPr>
        <p:spPr>
          <a:xfrm>
            <a:off x="1561171" y="3233854"/>
            <a:ext cx="9636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说明导函数有介值性质，</a:t>
            </a:r>
            <a:r>
              <a:rPr lang="zh-CN" altLang="en-US" b="1" dirty="0">
                <a:solidFill>
                  <a:srgbClr val="FF0000"/>
                </a:solidFill>
              </a:rPr>
              <a:t>导函数不用连续</a:t>
            </a:r>
            <a:r>
              <a:rPr lang="zh-CN" altLang="en-US" b="1" dirty="0"/>
              <a:t>！！（与之前的微分中值定理区分）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4593F2-D671-4BEF-9276-BBF327C120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00" t="20000" r="23589" b="50000"/>
          <a:stretch/>
        </p:blipFill>
        <p:spPr>
          <a:xfrm>
            <a:off x="1349298" y="4004327"/>
            <a:ext cx="3252537" cy="251189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BD55331-C16E-4AFF-969E-2875852DD8B8}"/>
              </a:ext>
            </a:extLst>
          </p:cNvPr>
          <p:cNvSpPr txBox="1"/>
          <p:nvPr/>
        </p:nvSpPr>
        <p:spPr>
          <a:xfrm>
            <a:off x="4939990" y="4944542"/>
            <a:ext cx="7493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找反例，常用来证明函数不可导！！！</a:t>
            </a:r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E1EB03B6-B4C6-4410-8324-1F8FB685C529}"/>
              </a:ext>
            </a:extLst>
          </p:cNvPr>
          <p:cNvSpPr/>
          <p:nvPr/>
        </p:nvSpPr>
        <p:spPr>
          <a:xfrm rot="3354287">
            <a:off x="4257488" y="3614565"/>
            <a:ext cx="245326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4752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1CC3A-A0D9-4D21-A1A6-E11F5501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74" y="633743"/>
            <a:ext cx="10515600" cy="1325563"/>
          </a:xfrm>
        </p:spPr>
        <p:txBody>
          <a:bodyPr/>
          <a:lstStyle/>
          <a:p>
            <a:r>
              <a:rPr lang="zh-CN" altLang="en-US" dirty="0"/>
              <a:t>导函数极限的推论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279CCEC-66A8-4D3F-8C95-9F46EE304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2" t="32875" r="22680" b="27915"/>
          <a:stretch/>
        </p:blipFill>
        <p:spPr>
          <a:xfrm>
            <a:off x="2036956" y="3593796"/>
            <a:ext cx="6713035" cy="2951421"/>
          </a:xfr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05DE1AE-328E-4B9F-9212-46E8352D72A2}"/>
              </a:ext>
            </a:extLst>
          </p:cNvPr>
          <p:cNvSpPr/>
          <p:nvPr/>
        </p:nvSpPr>
        <p:spPr>
          <a:xfrm>
            <a:off x="2549912" y="5508702"/>
            <a:ext cx="617034" cy="34568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DBECA1-9D06-48CE-8C0F-978AF5E7DC3C}"/>
              </a:ext>
            </a:extLst>
          </p:cNvPr>
          <p:cNvSpPr/>
          <p:nvPr/>
        </p:nvSpPr>
        <p:spPr>
          <a:xfrm>
            <a:off x="5531005" y="5520171"/>
            <a:ext cx="2687443" cy="50148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3CD30D-3D04-4080-886F-D7B29AD9D353}"/>
              </a:ext>
            </a:extLst>
          </p:cNvPr>
          <p:cNvSpPr txBox="1"/>
          <p:nvPr/>
        </p:nvSpPr>
        <p:spPr>
          <a:xfrm>
            <a:off x="229529" y="1887811"/>
            <a:ext cx="45850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常见反例：振荡函数，不光滑的函数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F7089C6-062A-4166-B285-38FF3FFA6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393" y="312783"/>
            <a:ext cx="7147933" cy="31863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2D686F5-B4AA-426F-9A85-C706C61ED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42" y="1568726"/>
            <a:ext cx="1028844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366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50F78-D417-4978-A47F-1EF006E40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14DF61-758E-4EC7-AFD6-932E11C4BC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1" t="88125" r="22735"/>
          <a:stretch/>
        </p:blipFill>
        <p:spPr>
          <a:xfrm>
            <a:off x="838200" y="1221907"/>
            <a:ext cx="9924237" cy="1424647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B027A3D-4B5B-4804-863C-F147AEAF9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6" t="48360" r="21346" b="44065"/>
          <a:stretch/>
        </p:blipFill>
        <p:spPr>
          <a:xfrm>
            <a:off x="389897" y="3191145"/>
            <a:ext cx="11412206" cy="10224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357B6FD-A2DA-4642-8E81-0DC5313F5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67" y="5470467"/>
            <a:ext cx="11620892" cy="102240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CB8B40C-28CC-4B8F-A739-9DE267241B69}"/>
              </a:ext>
            </a:extLst>
          </p:cNvPr>
          <p:cNvSpPr txBox="1"/>
          <p:nvPr/>
        </p:nvSpPr>
        <p:spPr>
          <a:xfrm>
            <a:off x="332867" y="4982647"/>
            <a:ext cx="3066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直观理解</a:t>
            </a:r>
          </a:p>
        </p:txBody>
      </p:sp>
      <p:sp>
        <p:nvSpPr>
          <p:cNvPr id="11" name="箭头: 右弧形 10">
            <a:extLst>
              <a:ext uri="{FF2B5EF4-FFF2-40B4-BE49-F238E27FC236}">
                <a16:creationId xmlns:a16="http://schemas.microsoft.com/office/drawing/2014/main" id="{3E3C8ADE-D599-4691-B1A7-82D7E9282333}"/>
              </a:ext>
            </a:extLst>
          </p:cNvPr>
          <p:cNvSpPr/>
          <p:nvPr/>
        </p:nvSpPr>
        <p:spPr>
          <a:xfrm rot="5400000">
            <a:off x="3102006" y="1540727"/>
            <a:ext cx="490544" cy="172111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乘号 11">
            <a:extLst>
              <a:ext uri="{FF2B5EF4-FFF2-40B4-BE49-F238E27FC236}">
                <a16:creationId xmlns:a16="http://schemas.microsoft.com/office/drawing/2014/main" id="{93DBD9A5-0ED5-414E-915B-A2C68321FC8C}"/>
              </a:ext>
            </a:extLst>
          </p:cNvPr>
          <p:cNvSpPr/>
          <p:nvPr/>
        </p:nvSpPr>
        <p:spPr>
          <a:xfrm>
            <a:off x="3023892" y="2286679"/>
            <a:ext cx="646771" cy="71975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50F29B-404E-419B-A699-0C900D0D1DDF}"/>
              </a:ext>
            </a:extLst>
          </p:cNvPr>
          <p:cNvSpPr txBox="1"/>
          <p:nvPr/>
        </p:nvSpPr>
        <p:spPr>
          <a:xfrm>
            <a:off x="5502938" y="5612339"/>
            <a:ext cx="5057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否则产生一个极大的突变量导致函数不可导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77A4BCC-5232-4CB7-A29D-AED036B20FFA}"/>
              </a:ext>
            </a:extLst>
          </p:cNvPr>
          <p:cNvCxnSpPr/>
          <p:nvPr/>
        </p:nvCxnSpPr>
        <p:spPr>
          <a:xfrm flipV="1">
            <a:off x="3276789" y="3006429"/>
            <a:ext cx="0" cy="297524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2703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54869-BD59-4B4D-B8C4-75F1E3D7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0C0AF7-30B3-4666-9CD1-6E357C289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7200" dirty="0"/>
              <a:t>这部分别硬背定理！！！</a:t>
            </a:r>
            <a:endParaRPr lang="en-US" altLang="zh-CN" sz="7200" dirty="0"/>
          </a:p>
          <a:p>
            <a:r>
              <a:rPr lang="zh-CN" altLang="en-US" sz="7200" dirty="0">
                <a:solidFill>
                  <a:srgbClr val="FF0000"/>
                </a:solidFill>
                <a:highlight>
                  <a:srgbClr val="FFFF00"/>
                </a:highlight>
              </a:rPr>
              <a:t>记住常见反例</a:t>
            </a:r>
          </a:p>
        </p:txBody>
      </p:sp>
    </p:spTree>
    <p:extLst>
      <p:ext uri="{BB962C8B-B14F-4D97-AF65-F5344CB8AC3E}">
        <p14:creationId xmlns:p14="http://schemas.microsoft.com/office/powerpoint/2010/main" val="336539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15494</TotalTime>
  <Words>3252</Words>
  <Application>Microsoft Office PowerPoint</Application>
  <PresentationFormat>宽屏</PresentationFormat>
  <Paragraphs>420</Paragraphs>
  <Slides>69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5" baseType="lpstr">
      <vt:lpstr>等线</vt:lpstr>
      <vt:lpstr>Arial</vt:lpstr>
      <vt:lpstr>Calibri</vt:lpstr>
      <vt:lpstr>Calibri Light</vt:lpstr>
      <vt:lpstr>Cambria Math</vt:lpstr>
      <vt:lpstr>Office Theme</vt:lpstr>
      <vt:lpstr>高数Ⅰ习题课 Week1</vt:lpstr>
      <vt:lpstr>#高数是谁，它难不难</vt:lpstr>
      <vt:lpstr>#我是谁 </vt:lpstr>
      <vt:lpstr>#一些可能会对大家有帮助的工具</vt:lpstr>
      <vt:lpstr>#习题课一定要来吗</vt:lpstr>
      <vt:lpstr>#一些暂定的安排</vt:lpstr>
      <vt:lpstr>#作业提交格式</vt:lpstr>
      <vt:lpstr>初等数学复习（？）</vt:lpstr>
      <vt:lpstr>#数学书写</vt:lpstr>
      <vt:lpstr>PowerPoint 演示文稿</vt:lpstr>
      <vt:lpstr>数学归纳法</vt:lpstr>
      <vt:lpstr>1.1.6数集的界 </vt:lpstr>
      <vt:lpstr>上/下（确）界</vt:lpstr>
      <vt:lpstr>PowerPoint 演示文稿</vt:lpstr>
      <vt:lpstr>特别的函数</vt:lpstr>
      <vt:lpstr>PowerPoint 演示文稿</vt:lpstr>
      <vt:lpstr>Thinking</vt:lpstr>
      <vt:lpstr>PowerPoint 演示文稿</vt:lpstr>
      <vt:lpstr>高数Ⅰ习题课 Week2</vt:lpstr>
      <vt:lpstr>作业反馈（需要argue随时）</vt:lpstr>
      <vt:lpstr>PowerPoint 演示文稿</vt:lpstr>
      <vt:lpstr>极限</vt:lpstr>
      <vt:lpstr>PowerPoint 演示文稿</vt:lpstr>
      <vt:lpstr>适当放大法（见2.4） </vt:lpstr>
      <vt:lpstr>无穷大，无穷小</vt:lpstr>
      <vt:lpstr>数列极限的性质</vt:lpstr>
      <vt:lpstr>归并性推论</vt:lpstr>
      <vt:lpstr>PowerPoint 演示文稿</vt:lpstr>
      <vt:lpstr>数列极限的计算</vt:lpstr>
      <vt:lpstr>Thinking</vt:lpstr>
      <vt:lpstr>PowerPoint 演示文稿</vt:lpstr>
      <vt:lpstr>高数Ⅰ习题课 Week3</vt:lpstr>
      <vt:lpstr>夹逼定理</vt:lpstr>
      <vt:lpstr>单调有界数列极限存在定理</vt:lpstr>
      <vt:lpstr>递归数列极限</vt:lpstr>
      <vt:lpstr>注意：数列极限都针对的是n趋近于无穷</vt:lpstr>
      <vt:lpstr>函数的极限</vt:lpstr>
      <vt:lpstr>数学语言证明函数的极限</vt:lpstr>
      <vt:lpstr>函数的单侧极限</vt:lpstr>
      <vt:lpstr>Heine定理</vt:lpstr>
      <vt:lpstr>Heine定理的应用</vt:lpstr>
      <vt:lpstr>补充</vt:lpstr>
      <vt:lpstr>函数极限的性质</vt:lpstr>
      <vt:lpstr>复合函数极限运算定理</vt:lpstr>
      <vt:lpstr>函数极限运算</vt:lpstr>
      <vt:lpstr>Thinking</vt:lpstr>
      <vt:lpstr>PowerPoint 演示文稿</vt:lpstr>
      <vt:lpstr>无穷小的比较</vt:lpstr>
      <vt:lpstr>无穷小的主部</vt:lpstr>
      <vt:lpstr>PowerPoint 演示文稿</vt:lpstr>
      <vt:lpstr>其他的等价无穷小替换</vt:lpstr>
      <vt:lpstr>函数的连续性（左右连续同理）</vt:lpstr>
      <vt:lpstr>函数的间断点分类与连续性</vt:lpstr>
      <vt:lpstr>闭区间连续函数的性质（为后续微分铺垫）</vt:lpstr>
      <vt:lpstr>Thinking</vt:lpstr>
      <vt:lpstr>Quiz考什么</vt:lpstr>
      <vt:lpstr>PowerPoint 演示文稿</vt:lpstr>
      <vt:lpstr>PowerPoint 演示文稿</vt:lpstr>
      <vt:lpstr>导数与微分</vt:lpstr>
      <vt:lpstr>可导与连续的关系</vt:lpstr>
      <vt:lpstr>关注从导数的定义</vt:lpstr>
      <vt:lpstr>高阶导数</vt:lpstr>
      <vt:lpstr>Thinking</vt:lpstr>
      <vt:lpstr>第四章（期中重点&amp;难点！）</vt:lpstr>
      <vt:lpstr>why闭区间连续，开区间可导</vt:lpstr>
      <vt:lpstr>Darboux定理</vt:lpstr>
      <vt:lpstr>导函数极限的推论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一鸣 吴</dc:creator>
  <cp:lastModifiedBy>一鸣 吴</cp:lastModifiedBy>
  <cp:revision>124</cp:revision>
  <dcterms:created xsi:type="dcterms:W3CDTF">2026-09-04T08:59:39Z</dcterms:created>
  <dcterms:modified xsi:type="dcterms:W3CDTF">2026-10-29T11:42:57Z</dcterms:modified>
</cp:coreProperties>
</file>